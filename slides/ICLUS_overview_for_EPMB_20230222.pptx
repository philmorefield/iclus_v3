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71" r:id="rId2"/>
    <p:sldId id="309" r:id="rId3"/>
    <p:sldId id="308" r:id="rId4"/>
    <p:sldId id="257" r:id="rId5"/>
    <p:sldId id="338" r:id="rId6"/>
    <p:sldId id="339" r:id="rId7"/>
    <p:sldId id="341" r:id="rId8"/>
    <p:sldId id="306" r:id="rId9"/>
    <p:sldId id="295" r:id="rId10"/>
    <p:sldId id="307" r:id="rId11"/>
    <p:sldId id="267" r:id="rId12"/>
    <p:sldId id="261" r:id="rId13"/>
    <p:sldId id="266" r:id="rId14"/>
    <p:sldId id="343" r:id="rId15"/>
    <p:sldId id="280" r:id="rId16"/>
    <p:sldId id="282" r:id="rId17"/>
    <p:sldId id="260" r:id="rId18"/>
    <p:sldId id="258" r:id="rId19"/>
    <p:sldId id="285" r:id="rId20"/>
    <p:sldId id="262" r:id="rId21"/>
    <p:sldId id="310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66AC48"/>
    <a:srgbClr val="DFE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3738" autoAdjust="0"/>
    <p:restoredTop sz="94660"/>
  </p:normalViewPr>
  <p:slideViewPr>
    <p:cSldViewPr snapToGrid="0">
      <p:cViewPr varScale="1">
        <p:scale>
          <a:sx n="66" d="100"/>
          <a:sy n="66" d="100"/>
        </p:scale>
        <p:origin x="9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 Morefield" userId="5a43f8f3820cb67c" providerId="LiveId" clId="{7E5C7503-CF0E-4F20-98D1-A993FE2AE60D}"/>
    <pc:docChg chg="modSld">
      <pc:chgData name="Phil Morefield" userId="5a43f8f3820cb67c" providerId="LiveId" clId="{7E5C7503-CF0E-4F20-98D1-A993FE2AE60D}" dt="2025-06-18T13:46:49.632" v="1" actId="1036"/>
      <pc:docMkLst>
        <pc:docMk/>
      </pc:docMkLst>
      <pc:sldChg chg="modSp mod">
        <pc:chgData name="Phil Morefield" userId="5a43f8f3820cb67c" providerId="LiveId" clId="{7E5C7503-CF0E-4F20-98D1-A993FE2AE60D}" dt="2025-06-18T13:46:49.632" v="1" actId="1036"/>
        <pc:sldMkLst>
          <pc:docMk/>
          <pc:sldMk cId="612219813" sldId="295"/>
        </pc:sldMkLst>
        <pc:picChg chg="mod">
          <ac:chgData name="Phil Morefield" userId="5a43f8f3820cb67c" providerId="LiveId" clId="{7E5C7503-CF0E-4F20-98D1-A993FE2AE60D}" dt="2025-06-18T13:46:49.632" v="1" actId="1036"/>
          <ac:picMkLst>
            <pc:docMk/>
            <pc:sldMk cId="612219813" sldId="295"/>
            <ac:picMk id="7" creationId="{8C60AFF7-6225-496F-8902-1FCE718C8182}"/>
          </ac:picMkLst>
        </pc:picChg>
      </pc:sldChg>
    </pc:docChg>
  </pc:docChgLst>
  <pc:docChgLst>
    <pc:chgData name="Morefield, Philip" userId="92d05a17-932e-4472-8c3d-9697e756bbb5" providerId="ADAL" clId="{8A9EB4D0-1E41-4B5A-B08D-F0D3B40F8A66}"/>
    <pc:docChg chg="custSel addSld delSld modSld">
      <pc:chgData name="Morefield, Philip" userId="92d05a17-932e-4472-8c3d-9697e756bbb5" providerId="ADAL" clId="{8A9EB4D0-1E41-4B5A-B08D-F0D3B40F8A66}" dt="2023-02-22T18:59:04.605" v="361" actId="1076"/>
      <pc:docMkLst>
        <pc:docMk/>
      </pc:docMkLst>
      <pc:sldChg chg="modSp">
        <pc:chgData name="Morefield, Philip" userId="92d05a17-932e-4472-8c3d-9697e756bbb5" providerId="ADAL" clId="{8A9EB4D0-1E41-4B5A-B08D-F0D3B40F8A66}" dt="2023-02-22T18:44:10.576" v="278"/>
        <pc:sldMkLst>
          <pc:docMk/>
          <pc:sldMk cId="3938578693" sldId="258"/>
        </pc:sldMkLst>
      </pc:sldChg>
      <pc:sldChg chg="modSp mod">
        <pc:chgData name="Morefield, Philip" userId="92d05a17-932e-4472-8c3d-9697e756bbb5" providerId="ADAL" clId="{8A9EB4D0-1E41-4B5A-B08D-F0D3B40F8A66}" dt="2023-02-22T18:40:27.417" v="258" actId="20577"/>
        <pc:sldMkLst>
          <pc:docMk/>
          <pc:sldMk cId="1398807925" sldId="271"/>
        </pc:sldMkLst>
      </pc:sldChg>
      <pc:sldChg chg="modSp mod">
        <pc:chgData name="Morefield, Philip" userId="92d05a17-932e-4472-8c3d-9697e756bbb5" providerId="ADAL" clId="{8A9EB4D0-1E41-4B5A-B08D-F0D3B40F8A66}" dt="2023-02-22T18:57:46.664" v="357" actId="20577"/>
        <pc:sldMkLst>
          <pc:docMk/>
          <pc:sldMk cId="915884306" sldId="280"/>
        </pc:sldMkLst>
      </pc:sldChg>
      <pc:sldChg chg="del">
        <pc:chgData name="Morefield, Philip" userId="92d05a17-932e-4472-8c3d-9697e756bbb5" providerId="ADAL" clId="{8A9EB4D0-1E41-4B5A-B08D-F0D3B40F8A66}" dt="2023-02-22T18:16:10.871" v="1" actId="47"/>
        <pc:sldMkLst>
          <pc:docMk/>
          <pc:sldMk cId="612219813" sldId="295"/>
        </pc:sldMkLst>
      </pc:sldChg>
      <pc:sldChg chg="del">
        <pc:chgData name="Morefield, Philip" userId="92d05a17-932e-4472-8c3d-9697e756bbb5" providerId="ADAL" clId="{8A9EB4D0-1E41-4B5A-B08D-F0D3B40F8A66}" dt="2023-02-22T18:50:47.818" v="283" actId="47"/>
        <pc:sldMkLst>
          <pc:docMk/>
          <pc:sldMk cId="2921901544" sldId="297"/>
        </pc:sldMkLst>
      </pc:sldChg>
      <pc:sldChg chg="del">
        <pc:chgData name="Morefield, Philip" userId="92d05a17-932e-4472-8c3d-9697e756bbb5" providerId="ADAL" clId="{8A9EB4D0-1E41-4B5A-B08D-F0D3B40F8A66}" dt="2023-02-22T18:16:09.863" v="0" actId="47"/>
        <pc:sldMkLst>
          <pc:docMk/>
          <pc:sldMk cId="3464575258" sldId="306"/>
        </pc:sldMkLst>
      </pc:sldChg>
      <pc:sldChg chg="addSp modSp new mod">
        <pc:chgData name="Morefield, Philip" userId="92d05a17-932e-4472-8c3d-9697e756bbb5" providerId="ADAL" clId="{8A9EB4D0-1E41-4B5A-B08D-F0D3B40F8A66}" dt="2023-02-22T18:45:46.341" v="280" actId="20577"/>
        <pc:sldMkLst>
          <pc:docMk/>
          <pc:sldMk cId="3975889350" sldId="310"/>
        </pc:sldMkLst>
      </pc:sldChg>
      <pc:sldChg chg="del">
        <pc:chgData name="Morefield, Philip" userId="92d05a17-932e-4472-8c3d-9697e756bbb5" providerId="ADAL" clId="{8A9EB4D0-1E41-4B5A-B08D-F0D3B40F8A66}" dt="2023-02-22T18:49:07.907" v="281" actId="47"/>
        <pc:sldMkLst>
          <pc:docMk/>
          <pc:sldMk cId="718115573" sldId="311"/>
        </pc:sldMkLst>
      </pc:sldChg>
      <pc:sldChg chg="del">
        <pc:chgData name="Morefield, Philip" userId="92d05a17-932e-4472-8c3d-9697e756bbb5" providerId="ADAL" clId="{8A9EB4D0-1E41-4B5A-B08D-F0D3B40F8A66}" dt="2023-02-22T18:49:20.180" v="282" actId="47"/>
        <pc:sldMkLst>
          <pc:docMk/>
          <pc:sldMk cId="2661218002" sldId="337"/>
        </pc:sldMkLst>
      </pc:sldChg>
      <pc:sldChg chg="modSp mod">
        <pc:chgData name="Morefield, Philip" userId="92d05a17-932e-4472-8c3d-9697e756bbb5" providerId="ADAL" clId="{8A9EB4D0-1E41-4B5A-B08D-F0D3B40F8A66}" dt="2023-02-22T18:59:04.605" v="361" actId="1076"/>
        <pc:sldMkLst>
          <pc:docMk/>
          <pc:sldMk cId="1416085517" sldId="343"/>
        </pc:sldMkLst>
      </pc:sldChg>
      <pc:sldMasterChg chg="delSldLayout">
        <pc:chgData name="Morefield, Philip" userId="92d05a17-932e-4472-8c3d-9697e756bbb5" providerId="ADAL" clId="{8A9EB4D0-1E41-4B5A-B08D-F0D3B40F8A66}" dt="2023-02-22T18:16:10.871" v="1" actId="47"/>
        <pc:sldMasterMkLst>
          <pc:docMk/>
          <pc:sldMasterMk cId="407850311" sldId="2147483648"/>
        </pc:sldMasterMkLst>
        <pc:sldLayoutChg chg="del">
          <pc:chgData name="Morefield, Philip" userId="92d05a17-932e-4472-8c3d-9697e756bbb5" providerId="ADAL" clId="{8A9EB4D0-1E41-4B5A-B08D-F0D3B40F8A66}" dt="2023-02-22T18:16:10.871" v="1" actId="47"/>
          <pc:sldLayoutMkLst>
            <pc:docMk/>
            <pc:sldMasterMk cId="407850311" sldId="2147483648"/>
            <pc:sldLayoutMk cId="1913637331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37289-92BD-493D-A2C0-426A0A04EEA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52DBB-387A-4CD8-B165-66F4D89C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4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E4D71-1CBD-4053-A361-2337617C0F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15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38000">
              <a:schemeClr val="bg1"/>
            </a:gs>
            <a:gs pos="0">
              <a:schemeClr val="bg1"/>
            </a:gs>
            <a:gs pos="100000">
              <a:srgbClr val="DFE0E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0991"/>
            <a:ext cx="9144000" cy="203897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219CC-EB60-4153-AD21-9A93A46B1DF9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5" userDrawn="1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  <p15:guide id="4" pos="19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2BB86-C56C-4FA7-91D5-1BE9BCC038E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1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FBE1D-8AFC-4A68-82EA-CDB5119DCDE8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3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2AA-BB9E-4E90-9653-A8C1C5ED6879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8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02" y="351873"/>
            <a:ext cx="8869897" cy="8673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1720-ACFF-498D-A719-EF005E67EC34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1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8791A-69B6-45A4-9057-5C2B96742111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4342-B2DD-4E0D-A385-114EAA267F55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7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17983"/>
            <a:ext cx="6172200" cy="44430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723B6-AE73-4303-908F-F0C191B81360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3322104" y="338622"/>
            <a:ext cx="8869896" cy="895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211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7496"/>
            <a:ext cx="6172200" cy="43635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A61B-594B-436B-BAD2-47B6279E077A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322104" y="338622"/>
            <a:ext cx="8869896" cy="895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10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_ord_blanc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" y="271"/>
            <a:ext cx="12191999" cy="6857463"/>
          </a:xfrm>
          <a:prstGeom prst="rect">
            <a:avLst/>
          </a:prstGeom>
        </p:spPr>
      </p:pic>
      <p:sp>
        <p:nvSpPr>
          <p:cNvPr id="11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0" y="609600"/>
            <a:ext cx="7721600" cy="6858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Gill Sans MT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Gill Sans MT" pitchFamily="34" charset="0"/>
                <a:ea typeface="+mj-ea"/>
                <a:cs typeface="+mj-cs"/>
              </a:rPr>
              <a:t>Title Goes Here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1447800"/>
            <a:ext cx="11785600" cy="4876800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defRPr sz="1600" b="1">
                <a:latin typeface="Gill Sans MT" pitchFamily="34" charset="0"/>
              </a:defRPr>
            </a:lvl1pPr>
            <a:lvl2pPr>
              <a:defRPr sz="1600" b="1">
                <a:latin typeface="Gill Sans MT" pitchFamily="34" charset="0"/>
              </a:defRPr>
            </a:lvl2pPr>
            <a:lvl3pPr>
              <a:defRPr sz="1600" b="1">
                <a:latin typeface="Gill Sans MT" pitchFamily="34" charset="0"/>
              </a:defRPr>
            </a:lvl3pPr>
            <a:lvl4pPr>
              <a:defRPr sz="1600" b="1">
                <a:latin typeface="Gill Sans MT" pitchFamily="34" charset="0"/>
              </a:defRPr>
            </a:lvl4pPr>
            <a:lvl5pPr>
              <a:defRPr sz="1600" b="1">
                <a:latin typeface="Gill Sans MT" pitchFamily="34" charset="0"/>
              </a:defRPr>
            </a:lvl5pPr>
          </a:lstStyle>
          <a:p>
            <a:pPr lvl="0"/>
            <a:r>
              <a:rPr lang="en-US" dirty="0"/>
              <a:t>Bullet 1</a:t>
            </a:r>
          </a:p>
          <a:p>
            <a:pPr lvl="0"/>
            <a:r>
              <a:rPr lang="en-US" dirty="0"/>
              <a:t>Bullet 2</a:t>
            </a:r>
          </a:p>
          <a:p>
            <a:pPr lvl="0"/>
            <a:r>
              <a:rPr lang="en-US" dirty="0"/>
              <a:t>Bullet 3</a:t>
            </a:r>
          </a:p>
          <a:p>
            <a:pPr lvl="0"/>
            <a:r>
              <a:rPr lang="en-US" dirty="0"/>
              <a:t>Bullet 4</a:t>
            </a:r>
          </a:p>
          <a:p>
            <a:pPr lvl="0"/>
            <a:r>
              <a:rPr lang="en-US" dirty="0"/>
              <a:t>Bullet 5</a:t>
            </a:r>
          </a:p>
          <a:p>
            <a:pPr lvl="0"/>
            <a:r>
              <a:rPr lang="en-US" dirty="0"/>
              <a:t>Bullet 6</a:t>
            </a:r>
          </a:p>
          <a:p>
            <a:pPr lvl="0"/>
            <a:r>
              <a:rPr lang="en-US" dirty="0"/>
              <a:t>Bullet 7</a:t>
            </a:r>
          </a:p>
          <a:p>
            <a:pPr lvl="0"/>
            <a:r>
              <a:rPr lang="en-US" dirty="0"/>
              <a:t>Bullet 8</a:t>
            </a:r>
          </a:p>
          <a:p>
            <a:pPr lvl="0"/>
            <a:r>
              <a:rPr lang="en-US" dirty="0"/>
              <a:t>Bullet 9</a:t>
            </a:r>
          </a:p>
          <a:p>
            <a:pPr lvl="0"/>
            <a:r>
              <a:rPr lang="en-US" dirty="0"/>
              <a:t>Bullet 10</a:t>
            </a:r>
          </a:p>
          <a:p>
            <a:pPr lvl="0"/>
            <a:r>
              <a:rPr lang="en-US" dirty="0"/>
              <a:t>Bullet 11</a:t>
            </a:r>
          </a:p>
          <a:p>
            <a:pPr lvl="0"/>
            <a:r>
              <a:rPr lang="en-US" dirty="0"/>
              <a:t>Bullet 12</a:t>
            </a:r>
          </a:p>
          <a:p>
            <a:pPr lvl="0"/>
            <a:r>
              <a:rPr lang="en-US" dirty="0"/>
              <a:t>Bullet 13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8812171-3E41-4655-AEB3-19939E60824B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>
          <a:xfrm>
            <a:off x="8737600" y="6356353"/>
            <a:ext cx="3251200" cy="36512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Gill Sans MT" pitchFamily="34" charset="0"/>
              </a:defRPr>
            </a:lvl1pPr>
          </a:lstStyle>
          <a:p>
            <a:fld id="{6D3FAE4D-9488-4B48-8F4A-A56CB5A28A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- DRAFT: DO NOT DISTRIBUTE -</a:t>
            </a:r>
          </a:p>
        </p:txBody>
      </p:sp>
    </p:spTree>
    <p:extLst>
      <p:ext uri="{BB962C8B-B14F-4D97-AF65-F5344CB8AC3E}">
        <p14:creationId xmlns:p14="http://schemas.microsoft.com/office/powerpoint/2010/main" val="138412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bg1"/>
            </a:gs>
            <a:gs pos="0">
              <a:schemeClr val="bg1"/>
            </a:gs>
            <a:gs pos="100000">
              <a:srgbClr val="DFE0E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721" y="1500731"/>
            <a:ext cx="11257453" cy="4676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583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ACA6-99F7-4B8B-98BC-D37FB07A169E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2103" y="6356350"/>
            <a:ext cx="5556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621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 userDrawn="1"/>
        </p:nvSpPr>
        <p:spPr>
          <a:xfrm>
            <a:off x="0" y="337167"/>
            <a:ext cx="2963007" cy="923192"/>
          </a:xfrm>
          <a:custGeom>
            <a:avLst/>
            <a:gdLst>
              <a:gd name="connsiteX0" fmla="*/ 0 w 2963007"/>
              <a:gd name="connsiteY0" fmla="*/ 0 h 923192"/>
              <a:gd name="connsiteX1" fmla="*/ 2039815 w 2963007"/>
              <a:gd name="connsiteY1" fmla="*/ 0 h 923192"/>
              <a:gd name="connsiteX2" fmla="*/ 2963007 w 2963007"/>
              <a:gd name="connsiteY2" fmla="*/ 923192 h 923192"/>
              <a:gd name="connsiteX3" fmla="*/ 0 w 2963007"/>
              <a:gd name="connsiteY3" fmla="*/ 923192 h 923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007" h="923192">
                <a:moveTo>
                  <a:pt x="0" y="0"/>
                </a:moveTo>
                <a:lnTo>
                  <a:pt x="2039815" y="0"/>
                </a:lnTo>
                <a:lnTo>
                  <a:pt x="2963007" y="923192"/>
                </a:lnTo>
                <a:lnTo>
                  <a:pt x="0" y="923192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21" y="577539"/>
            <a:ext cx="1412377" cy="43365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22104" y="338622"/>
            <a:ext cx="8869896" cy="895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85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fpub.epa.gov/ncea/iclus/recordisplay.cfm?deid=306651" TargetMode="External"/><Relationship Id="rId2" Type="http://schemas.openxmlformats.org/officeDocument/2006/relationships/hyperlink" Target="http://cfpub.epa.gov/ncea/iclus/recordisplay.cfm?deid=203458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84-017-1905-4" TargetMode="External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www.sciencedirect.com/science/article/pii/S016920461831060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fpub.epa.gov/ncea/iclus/recordisplay.cfm?deid=322479" TargetMode="External"/><Relationship Id="rId2" Type="http://schemas.openxmlformats.org/officeDocument/2006/relationships/hyperlink" Target="https://journals.plos.org/plosone/article?id=10.1371/journal.pone.0094628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hd.ces.census.gov/data/" TargetMode="External"/><Relationship Id="rId2" Type="http://schemas.openxmlformats.org/officeDocument/2006/relationships/hyperlink" Target="https://hifld-geoplatform.opendata.arcgis.com/datasets/colleges-and-universities-campus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sgs.gov/core-science-systems/science-analytics-and-synthesis/gap/science/pad-us-data-download?qt-science_center_objects=0#qt-science_center_objects" TargetMode="External"/><Relationship Id="rId4" Type="http://schemas.openxmlformats.org/officeDocument/2006/relationships/hyperlink" Target="http://silvis.forest.wisc.edu/data/housing-block-change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EE7AB9-3BD5-42D4-A723-7747340DF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overview of EPA’s Integrated Climate and Land-use Scenarios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CD3AF57-216D-4785-A612-8D4C31094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325" y="4487863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Phil Morefield</a:t>
            </a:r>
          </a:p>
          <a:p>
            <a:pPr algn="l"/>
            <a:r>
              <a:rPr lang="en-US" dirty="0"/>
              <a:t>Integrated Environmental Assessment Branch - DC (IEABD)</a:t>
            </a:r>
          </a:p>
        </p:txBody>
      </p:sp>
    </p:spTree>
    <p:extLst>
      <p:ext uri="{BB962C8B-B14F-4D97-AF65-F5344CB8AC3E}">
        <p14:creationId xmlns:p14="http://schemas.microsoft.com/office/powerpoint/2010/main" val="139880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0B254-6190-48A5-AF11-753CD60AB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5354" y="2057400"/>
            <a:ext cx="6000518" cy="3811588"/>
          </a:xfrm>
        </p:spPr>
        <p:txBody>
          <a:bodyPr>
            <a:normAutofit fontScale="92500" lnSpcReduction="10000"/>
          </a:bodyPr>
          <a:lstStyle/>
          <a:p>
            <a:pPr marL="502920" indent="-502920"/>
            <a:r>
              <a:rPr lang="en-US" b="1" i="1" u="sng" dirty="0"/>
              <a:t>Goal</a:t>
            </a:r>
            <a:r>
              <a:rPr lang="en-US" dirty="0"/>
              <a:t>: To produce projections of population, land use, and impervious surface change that improve impact and vulnerability assessments of </a:t>
            </a:r>
            <a:r>
              <a:rPr lang="en-US" i="1" dirty="0"/>
              <a:t>global change</a:t>
            </a:r>
            <a:r>
              <a:rPr lang="en-US" dirty="0"/>
              <a:t>.   </a:t>
            </a:r>
          </a:p>
          <a:p>
            <a:endParaRPr lang="en-US" dirty="0"/>
          </a:p>
          <a:p>
            <a:pPr marL="868680" indent="-868680"/>
            <a:r>
              <a:rPr lang="en-US" b="1" i="1" u="sng" dirty="0"/>
              <a:t>Version 1</a:t>
            </a:r>
            <a:r>
              <a:rPr lang="en-US" b="1" i="1" dirty="0"/>
              <a:t>:</a:t>
            </a:r>
            <a:r>
              <a:rPr lang="en-US" b="1" dirty="0"/>
              <a:t> </a:t>
            </a:r>
            <a:r>
              <a:rPr lang="en-US" dirty="0">
                <a:hlinkClick r:id="rId2"/>
              </a:rPr>
              <a:t>National-Scale Housing Density Scenarios                         Consistent with Climate Change Storylines</a:t>
            </a:r>
            <a:r>
              <a:rPr lang="en-US" dirty="0"/>
              <a:t> (2009)</a:t>
            </a:r>
          </a:p>
          <a:p>
            <a:endParaRPr lang="en-US" b="1" i="1" dirty="0"/>
          </a:p>
          <a:p>
            <a:pPr marL="868680" indent="-868680"/>
            <a:r>
              <a:rPr lang="en-US" b="1" i="1" u="sng" dirty="0"/>
              <a:t>Version 2</a:t>
            </a:r>
            <a:r>
              <a:rPr lang="en-US" b="1" i="1" dirty="0"/>
              <a:t>: </a:t>
            </a:r>
            <a:r>
              <a:rPr lang="en-US" dirty="0">
                <a:hlinkClick r:id="rId3"/>
              </a:rPr>
              <a:t>Updates to the Demographic and Spatial Allocation Models to Produce Integrated Climate and Land Use Scenarios (ICLUS) Version 2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en-US" dirty="0"/>
              <a:t>2017)</a:t>
            </a:r>
            <a:endParaRPr lang="en-US" b="1" i="1" dirty="0"/>
          </a:p>
          <a:p>
            <a:endParaRPr lang="en-US" b="1" i="1" dirty="0"/>
          </a:p>
          <a:p>
            <a:r>
              <a:rPr lang="en-US" b="1" i="1" u="sng" dirty="0"/>
              <a:t>Version 3</a:t>
            </a:r>
            <a:r>
              <a:rPr lang="en-US" b="1" i="1" dirty="0"/>
              <a:t>: </a:t>
            </a:r>
            <a:r>
              <a:rPr lang="en-US" dirty="0"/>
              <a:t>Coming in </a:t>
            </a:r>
            <a:r>
              <a:rPr lang="en-US" strike="sngStrike" dirty="0"/>
              <a:t>2022 </a:t>
            </a:r>
            <a:r>
              <a:rPr lang="en-US" dirty="0"/>
              <a:t>2023.</a:t>
            </a:r>
          </a:p>
          <a:p>
            <a:endParaRPr lang="en-US" b="1" i="1" dirty="0"/>
          </a:p>
          <a:p>
            <a:r>
              <a:rPr lang="en-US" b="1" i="1" u="sng" dirty="0"/>
              <a:t>Version 4:</a:t>
            </a:r>
            <a:r>
              <a:rPr lang="en-US" b="1" i="1" dirty="0"/>
              <a:t> </a:t>
            </a:r>
            <a:r>
              <a:rPr lang="en-US" dirty="0"/>
              <a:t>Coming in 2024</a:t>
            </a:r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64088C-A5B8-47DF-848D-1666B08B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Integrated Climate and Land-Use Scenarios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24F701-E7E5-4BE8-8B10-6814F1F27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937" y="1721218"/>
            <a:ext cx="3821118" cy="41793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DA27D6-7DE2-4570-B5C5-3FE8AFF93847}"/>
              </a:ext>
            </a:extLst>
          </p:cNvPr>
          <p:cNvSpPr txBox="1"/>
          <p:nvPr/>
        </p:nvSpPr>
        <p:spPr>
          <a:xfrm>
            <a:off x="10940055" y="1721218"/>
            <a:ext cx="7130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V1: SRES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1181F-E0C1-4039-9AE2-0DAB3798207D}"/>
              </a:ext>
            </a:extLst>
          </p:cNvPr>
          <p:cNvSpPr txBox="1"/>
          <p:nvPr/>
        </p:nvSpPr>
        <p:spPr>
          <a:xfrm>
            <a:off x="10940055" y="1949110"/>
            <a:ext cx="7130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V2: SSP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93ABB3-7673-4C86-8726-263E1F0EB91E}"/>
              </a:ext>
            </a:extLst>
          </p:cNvPr>
          <p:cNvSpPr txBox="1"/>
          <p:nvPr/>
        </p:nvSpPr>
        <p:spPr>
          <a:xfrm>
            <a:off x="9834107" y="3891120"/>
            <a:ext cx="1518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V2: Climate amenities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AEEB55-94B5-433B-A44D-7A0E6DAA5297}"/>
              </a:ext>
            </a:extLst>
          </p:cNvPr>
          <p:cNvSpPr txBox="1"/>
          <p:nvPr/>
        </p:nvSpPr>
        <p:spPr>
          <a:xfrm>
            <a:off x="9834107" y="4520287"/>
            <a:ext cx="928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V1: County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C5B2A6-5EBB-442E-83A7-3714485E8083}"/>
              </a:ext>
            </a:extLst>
          </p:cNvPr>
          <p:cNvSpPr txBox="1"/>
          <p:nvPr/>
        </p:nvSpPr>
        <p:spPr>
          <a:xfrm>
            <a:off x="9834108" y="4748179"/>
            <a:ext cx="123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V2: County + MSA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C793E2-EAA7-467A-92FA-1CD86414BF27}"/>
              </a:ext>
            </a:extLst>
          </p:cNvPr>
          <p:cNvSpPr txBox="1"/>
          <p:nvPr/>
        </p:nvSpPr>
        <p:spPr>
          <a:xfrm>
            <a:off x="9834919" y="5411064"/>
            <a:ext cx="1372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V1: Housing density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8AF039-193B-486C-9285-0B4982801423}"/>
              </a:ext>
            </a:extLst>
          </p:cNvPr>
          <p:cNvSpPr txBox="1"/>
          <p:nvPr/>
        </p:nvSpPr>
        <p:spPr>
          <a:xfrm>
            <a:off x="9834919" y="5638956"/>
            <a:ext cx="2544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V2: </a:t>
            </a:r>
            <a:r>
              <a:rPr lang="en-US" sz="1000" b="1" dirty="0">
                <a:solidFill>
                  <a:srgbClr val="FF0000"/>
                </a:solidFill>
              </a:rPr>
              <a:t>Residential, commercial, industrial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173B3-6331-38F2-1825-18FF082C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9B58-C049-49B9-A590-29F17C4CF166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E8396-2C5D-C161-892F-E1274DBCA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436DA-D39B-1F39-4BB3-A98854FB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6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C3F1E4-0183-4057-B1F2-88D9BA90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ICLUS model flow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6CA0B723-3CF0-4035-B0B3-207EDE541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644" y="1678464"/>
            <a:ext cx="6303312" cy="43765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EBDD7-82BA-C65C-3711-D90BB344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359C-326D-4FB4-9A5E-ABC4209B6847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3BC05-4603-CF4B-FEDF-EF52D3B4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108B9-61E9-AA18-A947-7C4332E4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7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FD8A-F4C3-421D-9DCA-9261D7CB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Washington, D.C.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C15035-31C7-43AA-9A92-C09171DA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821" y="2228207"/>
            <a:ext cx="1682357" cy="3834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7C4A06-C8FB-4974-8B56-27E339169A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73" y="2202140"/>
            <a:ext cx="3886200" cy="3886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31F1B9-2114-4515-AF80-87589E211F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026" y="2202140"/>
            <a:ext cx="3886200" cy="3886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49BA805-98D9-44A5-A45F-D635D797CB5D}"/>
              </a:ext>
            </a:extLst>
          </p:cNvPr>
          <p:cNvSpPr txBox="1"/>
          <p:nvPr/>
        </p:nvSpPr>
        <p:spPr>
          <a:xfrm>
            <a:off x="947259" y="1685770"/>
            <a:ext cx="340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SSP2 (medium population growth)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20896-D378-453B-997F-0232C6B8E9DF}"/>
              </a:ext>
            </a:extLst>
          </p:cNvPr>
          <p:cNvSpPr txBox="1"/>
          <p:nvPr/>
        </p:nvSpPr>
        <p:spPr>
          <a:xfrm>
            <a:off x="8025940" y="1698803"/>
            <a:ext cx="3100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SSP5 (high population growth)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E3413-FCC0-454A-AC77-E505D171ECCC}"/>
              </a:ext>
            </a:extLst>
          </p:cNvPr>
          <p:cNvSpPr/>
          <p:nvPr/>
        </p:nvSpPr>
        <p:spPr>
          <a:xfrm>
            <a:off x="5159229" y="4253217"/>
            <a:ext cx="1233182" cy="1434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B4B2F-6103-51A9-54BB-BB1D0406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FC9B-303F-46B1-9495-8DD0C126109D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3AD16E-E7C4-92CE-C745-130F6F73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F2F58D-6CB0-1022-FD17-E9C162A3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2E82-D895-4C33-8D7C-125805C0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FASOM + ICLUS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55302-D2D1-4B92-B269-0B96D16D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B7489-4ABC-4C55-A1DF-2E15CBFE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Land-Use Scenarios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DCF73-417F-4127-BFB8-2804758B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E905F0-3977-4BA8-A72A-8FA60677EB90}"/>
              </a:ext>
            </a:extLst>
          </p:cNvPr>
          <p:cNvSpPr/>
          <p:nvPr/>
        </p:nvSpPr>
        <p:spPr>
          <a:xfrm>
            <a:off x="2632779" y="3627721"/>
            <a:ext cx="19050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Urban growth</a:t>
            </a:r>
          </a:p>
          <a:p>
            <a:pPr algn="ctr"/>
            <a:r>
              <a:rPr lang="en-US" dirty="0"/>
              <a:t>(ICLUS)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5005C6-B7CF-46AE-A800-70ABED815EAE}"/>
              </a:ext>
            </a:extLst>
          </p:cNvPr>
          <p:cNvSpPr/>
          <p:nvPr/>
        </p:nvSpPr>
        <p:spPr>
          <a:xfrm>
            <a:off x="5101221" y="3627721"/>
            <a:ext cx="19050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Forest productivity</a:t>
            </a:r>
          </a:p>
          <a:p>
            <a:pPr algn="ctr"/>
            <a:r>
              <a:rPr lang="en-US" dirty="0"/>
              <a:t>(MC2)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A2F37B-A5A9-490F-9D0E-686C4339EF5F}"/>
              </a:ext>
            </a:extLst>
          </p:cNvPr>
          <p:cNvSpPr/>
          <p:nvPr/>
        </p:nvSpPr>
        <p:spPr>
          <a:xfrm>
            <a:off x="7661979" y="3627721"/>
            <a:ext cx="19050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Crop productivity</a:t>
            </a:r>
          </a:p>
          <a:p>
            <a:pPr algn="ctr"/>
            <a:r>
              <a:rPr lang="en-US" dirty="0"/>
              <a:t>(EPIC)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8AE92E-401F-4CD8-8371-EA7F702E2D8F}"/>
              </a:ext>
            </a:extLst>
          </p:cNvPr>
          <p:cNvCxnSpPr>
            <a:cxnSpLocks/>
            <a:stCxn id="27" idx="2"/>
            <a:endCxn id="17" idx="0"/>
          </p:cNvCxnSpPr>
          <p:nvPr/>
        </p:nvCxnSpPr>
        <p:spPr>
          <a:xfrm flipH="1">
            <a:off x="3585279" y="2303179"/>
            <a:ext cx="2468442" cy="1324542"/>
          </a:xfrm>
          <a:prstGeom prst="straightConnector1">
            <a:avLst/>
          </a:prstGeom>
          <a:ln w="254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885A1A-8E58-4492-89C1-28DE30D212DC}"/>
              </a:ext>
            </a:extLst>
          </p:cNvPr>
          <p:cNvCxnSpPr>
            <a:cxnSpLocks/>
            <a:stCxn id="27" idx="2"/>
            <a:endCxn id="18" idx="0"/>
          </p:cNvCxnSpPr>
          <p:nvPr/>
        </p:nvCxnSpPr>
        <p:spPr>
          <a:xfrm>
            <a:off x="6053721" y="2303179"/>
            <a:ext cx="0" cy="1324542"/>
          </a:xfrm>
          <a:prstGeom prst="straightConnector1">
            <a:avLst/>
          </a:prstGeom>
          <a:ln w="254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29CC24-985A-4872-BFFB-C4EEB8B296CF}"/>
              </a:ext>
            </a:extLst>
          </p:cNvPr>
          <p:cNvCxnSpPr>
            <a:cxnSpLocks/>
            <a:stCxn id="27" idx="2"/>
            <a:endCxn id="19" idx="0"/>
          </p:cNvCxnSpPr>
          <p:nvPr/>
        </p:nvCxnSpPr>
        <p:spPr>
          <a:xfrm>
            <a:off x="6053721" y="2303179"/>
            <a:ext cx="2560758" cy="1324542"/>
          </a:xfrm>
          <a:prstGeom prst="straightConnector1">
            <a:avLst/>
          </a:prstGeom>
          <a:ln w="25400"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DDC779-0CE2-4651-8EE8-5B3A33700E75}"/>
              </a:ext>
            </a:extLst>
          </p:cNvPr>
          <p:cNvCxnSpPr>
            <a:stCxn id="18" idx="2"/>
            <a:endCxn id="24" idx="0"/>
          </p:cNvCxnSpPr>
          <p:nvPr/>
        </p:nvCxnSpPr>
        <p:spPr>
          <a:xfrm>
            <a:off x="6053721" y="4542121"/>
            <a:ext cx="0" cy="89982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CC27F5A-D113-420F-A1FC-F558EFD8E8FA}"/>
              </a:ext>
            </a:extLst>
          </p:cNvPr>
          <p:cNvSpPr/>
          <p:nvPr/>
        </p:nvSpPr>
        <p:spPr>
          <a:xfrm>
            <a:off x="5101221" y="5441950"/>
            <a:ext cx="19050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FASOM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971B25-4E50-4D48-964A-A3427E2997A9}"/>
              </a:ext>
            </a:extLst>
          </p:cNvPr>
          <p:cNvCxnSpPr>
            <a:stCxn id="17" idx="2"/>
            <a:endCxn id="24" idx="1"/>
          </p:cNvCxnSpPr>
          <p:nvPr/>
        </p:nvCxnSpPr>
        <p:spPr>
          <a:xfrm>
            <a:off x="3585279" y="4542121"/>
            <a:ext cx="1515942" cy="135702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817D9C-FBD9-4164-8A94-EBDB6E8F5C72}"/>
              </a:ext>
            </a:extLst>
          </p:cNvPr>
          <p:cNvCxnSpPr>
            <a:stCxn id="19" idx="2"/>
            <a:endCxn id="24" idx="3"/>
          </p:cNvCxnSpPr>
          <p:nvPr/>
        </p:nvCxnSpPr>
        <p:spPr>
          <a:xfrm flipH="1">
            <a:off x="7006221" y="4542121"/>
            <a:ext cx="1608258" cy="1357029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4EED52D-E495-4995-B9B0-A76126F9C7F2}"/>
              </a:ext>
            </a:extLst>
          </p:cNvPr>
          <p:cNvSpPr/>
          <p:nvPr/>
        </p:nvSpPr>
        <p:spPr>
          <a:xfrm>
            <a:off x="3615321" y="1388779"/>
            <a:ext cx="48768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Projections of temperature and precipitation</a:t>
            </a:r>
          </a:p>
        </p:txBody>
      </p:sp>
    </p:spTree>
    <p:extLst>
      <p:ext uri="{BB962C8B-B14F-4D97-AF65-F5344CB8AC3E}">
        <p14:creationId xmlns:p14="http://schemas.microsoft.com/office/powerpoint/2010/main" val="168306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0271-949B-404E-B80E-54634F00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FASOM + ICLUS: Some Preliminary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4C1CA-CAC1-4F2A-BB2B-07D1E254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C752F-846A-4E8D-ADE1-46D11D4B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Land-Use Scenarios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07005-8468-4AD6-839B-B91F29FF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50335-48ED-4CF9-BC64-D97EB4AB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302" y="2605702"/>
            <a:ext cx="2666486" cy="1847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F28B4A-EDC0-435E-9535-AB6F5408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34" y="1634121"/>
            <a:ext cx="2506712" cy="21015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2741AA-1A89-4F00-B173-D530A9163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531" y="1632523"/>
            <a:ext cx="2508618" cy="210152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8F58683-AF10-4271-958A-86D2B8749D53}"/>
              </a:ext>
            </a:extLst>
          </p:cNvPr>
          <p:cNvCxnSpPr>
            <a:cxnSpLocks/>
          </p:cNvCxnSpPr>
          <p:nvPr/>
        </p:nvCxnSpPr>
        <p:spPr>
          <a:xfrm>
            <a:off x="3611246" y="2034586"/>
            <a:ext cx="1975443" cy="1027179"/>
          </a:xfrm>
          <a:prstGeom prst="bentConnector3">
            <a:avLst>
              <a:gd name="adj1" fmla="val 100171"/>
            </a:avLst>
          </a:prstGeom>
          <a:ln w="730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F51E9A2-8DE1-4B18-ACD4-FD9E3E2700A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23819" y="2034586"/>
            <a:ext cx="2818712" cy="1304449"/>
          </a:xfrm>
          <a:prstGeom prst="bentConnector3">
            <a:avLst>
              <a:gd name="adj1" fmla="val 100021"/>
            </a:avLst>
          </a:prstGeom>
          <a:ln w="730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FF729F7-1F44-4F2D-85CB-A5BAF3989240}"/>
              </a:ext>
            </a:extLst>
          </p:cNvPr>
          <p:cNvSpPr txBox="1"/>
          <p:nvPr/>
        </p:nvSpPr>
        <p:spPr>
          <a:xfrm>
            <a:off x="414790" y="4030334"/>
            <a:ext cx="3886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Northern Great Plains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Yields generally increased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choice alone </a:t>
            </a:r>
            <a:r>
              <a:rPr lang="en-US" u="sng" dirty="0"/>
              <a:t>can</a:t>
            </a:r>
            <a:r>
              <a:rPr lang="en-US" dirty="0"/>
              <a:t> determine the sign of change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e.g., corn under RCP8.5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16E0E-293B-44E9-8733-B8A65EE8F4A0}"/>
              </a:ext>
            </a:extLst>
          </p:cNvPr>
          <p:cNvSpPr txBox="1"/>
          <p:nvPr/>
        </p:nvSpPr>
        <p:spPr>
          <a:xfrm>
            <a:off x="8353740" y="4030334"/>
            <a:ext cx="388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Midwest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Yields generally </a:t>
            </a:r>
            <a:r>
              <a:rPr lang="en-US" i="1" dirty="0"/>
              <a:t>decreased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GISS-e2-r results increased yields, and mostly under RCP4.5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Soybean yields increase under RCP8.5</a:t>
            </a:r>
          </a:p>
        </p:txBody>
      </p:sp>
    </p:spTree>
    <p:extLst>
      <p:ext uri="{BB962C8B-B14F-4D97-AF65-F5344CB8AC3E}">
        <p14:creationId xmlns:p14="http://schemas.microsoft.com/office/powerpoint/2010/main" val="698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B0F3-35EE-4D1B-9330-B7C131D73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66775" y="2076450"/>
            <a:ext cx="10010775" cy="3527938"/>
          </a:xfrm>
        </p:spPr>
        <p:txBody>
          <a:bodyPr>
            <a:normAutofit/>
          </a:bodyPr>
          <a:lstStyle/>
          <a:p>
            <a:r>
              <a:rPr lang="en-US" sz="2000" b="0" dirty="0">
                <a:latin typeface="+mn-lt"/>
              </a:rPr>
              <a:t>After accounting for urban growth, temperature and precipitation changes, and land use shifts between forestry and agriculture, </a:t>
            </a:r>
            <a:r>
              <a:rPr lang="en-US" sz="2000" b="0" u="sng" dirty="0">
                <a:latin typeface="+mn-lt"/>
              </a:rPr>
              <a:t>our results suggest the extent of cropland will increase through 2100. </a:t>
            </a:r>
          </a:p>
          <a:p>
            <a:r>
              <a:rPr lang="en-US" sz="2000" b="0" dirty="0">
                <a:latin typeface="+mn-lt"/>
              </a:rPr>
              <a:t>The primary driver of this trend is decreasing yields nationally, although some crop-region-scenario combinations could experience higher yields.</a:t>
            </a:r>
          </a:p>
          <a:p>
            <a:r>
              <a:rPr lang="en-US" sz="2000" b="0" dirty="0">
                <a:latin typeface="+mn-lt"/>
              </a:rPr>
              <a:t>Forestry yields are generally 1-3% higher than baseline, with some years dipping lower than the baseline projection.</a:t>
            </a:r>
          </a:p>
          <a:p>
            <a:r>
              <a:rPr lang="en-US" sz="2000" b="0" dirty="0">
                <a:latin typeface="+mn-lt"/>
              </a:rPr>
              <a:t>Choices regarding emissions scenario and climate model remain an important factor in these types of analyses; sign and magnitude of change may depend on those decisions.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38725E-1F1B-4A7D-A966-120E5C7A198B}"/>
              </a:ext>
            </a:extLst>
          </p:cNvPr>
          <p:cNvSpPr txBox="1">
            <a:spLocks/>
          </p:cNvSpPr>
          <p:nvPr/>
        </p:nvSpPr>
        <p:spPr>
          <a:xfrm>
            <a:off x="4071322" y="474307"/>
            <a:ext cx="8013102" cy="6524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FASOM + ICLUS: Preliminary Assessment</a:t>
            </a:r>
          </a:p>
        </p:txBody>
      </p:sp>
    </p:spTree>
    <p:extLst>
      <p:ext uri="{BB962C8B-B14F-4D97-AF65-F5344CB8AC3E}">
        <p14:creationId xmlns:p14="http://schemas.microsoft.com/office/powerpoint/2010/main" val="2184527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633D8-A51C-46B9-B40F-D51C12EAD4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24151" y="1562100"/>
            <a:ext cx="7391400" cy="511492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 Use ICLUS v2 population and land use changes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County-level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Decadal to 2100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 Allocate households to residential density classes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0000"/>
                </a:solidFill>
              </a:rPr>
              <a:t>High-density urban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6347"/>
                </a:solidFill>
              </a:rPr>
              <a:t>Urban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C0CB"/>
                </a:solidFill>
              </a:rPr>
              <a:t>Suburban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A604"/>
                </a:solidFill>
              </a:rPr>
              <a:t>Exurban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FFD500"/>
                </a:solidFill>
              </a:rPr>
              <a:t>Rural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 Calculate VMTs per household as a function of residential density</a:t>
            </a:r>
          </a:p>
          <a:p>
            <a:pPr>
              <a:buFont typeface="+mj-lt"/>
              <a:buAutoNum type="arabicPeriod"/>
            </a:pPr>
            <a:r>
              <a:rPr lang="en-US" dirty="0"/>
              <a:t> Use MOVES 2014 to calculate changes in passenger vehicle emissions</a:t>
            </a:r>
          </a:p>
          <a:p>
            <a:pPr lvl="1"/>
            <a:r>
              <a:rPr lang="en-US" b="0" u="sng" dirty="0" err="1"/>
              <a:t>MO</a:t>
            </a:r>
            <a:r>
              <a:rPr lang="en-US" b="0" dirty="0" err="1"/>
              <a:t>tor</a:t>
            </a:r>
            <a:r>
              <a:rPr lang="en-US" b="0" dirty="0"/>
              <a:t> </a:t>
            </a:r>
            <a:r>
              <a:rPr lang="en-US" b="0" u="sng" dirty="0"/>
              <a:t>V</a:t>
            </a:r>
            <a:r>
              <a:rPr lang="en-US" b="0" dirty="0"/>
              <a:t>ehicle </a:t>
            </a:r>
            <a:r>
              <a:rPr lang="en-US" b="0" u="sng" dirty="0"/>
              <a:t>E</a:t>
            </a:r>
            <a:r>
              <a:rPr lang="en-US" b="0" dirty="0"/>
              <a:t>missions </a:t>
            </a:r>
            <a:r>
              <a:rPr lang="en-US" b="0" u="sng" dirty="0"/>
              <a:t>S</a:t>
            </a:r>
            <a:r>
              <a:rPr lang="en-US" b="0" dirty="0"/>
              <a:t>imulator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Use 2010 as the baseline for comparison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4B58BA-E0E2-4E24-8F63-62B7F55A3645}"/>
              </a:ext>
            </a:extLst>
          </p:cNvPr>
          <p:cNvSpPr txBox="1">
            <a:spLocks/>
          </p:cNvSpPr>
          <p:nvPr/>
        </p:nvSpPr>
        <p:spPr>
          <a:xfrm>
            <a:off x="4071322" y="474307"/>
            <a:ext cx="8013102" cy="6524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Using ICLUS to Assess Future Mobile Emissions</a:t>
            </a:r>
          </a:p>
        </p:txBody>
      </p:sp>
    </p:spTree>
    <p:extLst>
      <p:ext uri="{BB962C8B-B14F-4D97-AF65-F5344CB8AC3E}">
        <p14:creationId xmlns:p14="http://schemas.microsoft.com/office/powerpoint/2010/main" val="346457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60AFF7-6225-496F-8902-1FCE718C81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390848"/>
            <a:ext cx="7112001" cy="5334001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0D5A2E5-4E9B-4B5B-ADB9-65F63FB9E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Decomposing the decline in emissions: California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CA4BCD-0840-4F89-8401-86F34200D3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775" y="3190876"/>
            <a:ext cx="4667250" cy="1400174"/>
          </a:xfrm>
        </p:spPr>
        <p:txBody>
          <a:bodyPr>
            <a:noAutofit/>
          </a:bodyPr>
          <a:lstStyle/>
          <a:p>
            <a:pPr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Densification should reduce per-person VMT (“Driving habits”)</a:t>
            </a:r>
          </a:p>
          <a:p>
            <a:pPr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Instead, per-person VMT </a:t>
            </a:r>
            <a:r>
              <a:rPr lang="en-US" i="1" u="sng" dirty="0"/>
              <a:t>increased</a:t>
            </a:r>
            <a:r>
              <a:rPr lang="en-US" dirty="0"/>
              <a:t> in several states</a:t>
            </a:r>
          </a:p>
        </p:txBody>
      </p:sp>
    </p:spTree>
    <p:extLst>
      <p:ext uri="{BB962C8B-B14F-4D97-AF65-F5344CB8AC3E}">
        <p14:creationId xmlns:p14="http://schemas.microsoft.com/office/powerpoint/2010/main" val="612219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E165C0-BF7C-4D37-A939-8F1F53C1F3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Assessing the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C957F-5012-46B1-AF58-09CEEBFAD7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3200" y="1962150"/>
            <a:ext cx="11785600" cy="3781425"/>
          </a:xfrm>
        </p:spPr>
        <p:txBody>
          <a:bodyPr/>
          <a:lstStyle/>
          <a:p>
            <a:endParaRPr lang="en-US" dirty="0"/>
          </a:p>
          <a:p>
            <a:r>
              <a:rPr lang="en-US" sz="2000" dirty="0"/>
              <a:t>Existing emissions standards for passenger vehicles can entirely mitigate population growth – and more – through 2050</a:t>
            </a:r>
          </a:p>
          <a:p>
            <a:endParaRPr lang="en-US" sz="2000" dirty="0"/>
          </a:p>
          <a:p>
            <a:r>
              <a:rPr lang="en-US" sz="2000" dirty="0"/>
              <a:t>After 2050, additional standards may be needed; none of the states densify quickly enough to overcome population growth in our simulations</a:t>
            </a:r>
          </a:p>
          <a:p>
            <a:endParaRPr lang="en-US" sz="2000" dirty="0"/>
          </a:p>
          <a:p>
            <a:r>
              <a:rPr lang="en-US" sz="2000" dirty="0"/>
              <a:t>The role of land use change is complicated; overall density of households needs to increase in order to realize a benefit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11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27DC-6A8F-483B-A978-7E1EE52D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Population growth, climate change and tornado risk</a:t>
            </a:r>
          </a:p>
        </p:txBody>
      </p:sp>
      <p:pic>
        <p:nvPicPr>
          <p:cNvPr id="8" name="Content Placeholder 7" descr="Strader et al. - 2017 - Projected 21st century changes in tornado exposure.pdf - Adobe Acrobat Pro DC">
            <a:extLst>
              <a:ext uri="{FF2B5EF4-FFF2-40B4-BE49-F238E27FC236}">
                <a16:creationId xmlns:a16="http://schemas.microsoft.com/office/drawing/2014/main" id="{78050443-EB97-4E73-B905-003EB7FFC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5" t="30330" r="18459" b="936"/>
          <a:stretch/>
        </p:blipFill>
        <p:spPr>
          <a:xfrm>
            <a:off x="7125714" y="1474357"/>
            <a:ext cx="4239909" cy="46489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ADA0C-C59D-44C5-93C8-F98A7F05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5/7/2019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3A33B-0482-436C-A2E6-59CEF483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Population and land-use projections to inform adaptation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C8363-96A1-43CC-84CE-53D475A4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40B14-94F1-4B69-A754-967AA77B327D}"/>
              </a:ext>
            </a:extLst>
          </p:cNvPr>
          <p:cNvSpPr txBox="1"/>
          <p:nvPr/>
        </p:nvSpPr>
        <p:spPr>
          <a:xfrm>
            <a:off x="505342" y="1474357"/>
            <a:ext cx="57314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Strader et al. (2017)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the Tornado Impact Monte Carlo (</a:t>
            </a:r>
            <a:r>
              <a:rPr lang="en-US" dirty="0" err="1"/>
              <a:t>TorMC</a:t>
            </a:r>
            <a:r>
              <a:rPr lang="en-US" dirty="0"/>
              <a:t>)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Simulate (n=10,000) 2010 housing density and historical (1954-2015) tornado activity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Simulate 2010 housing density and future tornado frequency and variability (+50%)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Simulate 2100 A2 housing density and historical tornado activity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 for population growth and increased tornado activity increases impacts by 170% (# of housing units impacted)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Importance: </a:t>
            </a:r>
            <a:r>
              <a:rPr lang="en-US" b="1" dirty="0"/>
              <a:t>Population growth </a:t>
            </a:r>
            <a:r>
              <a:rPr lang="en-US" dirty="0"/>
              <a:t>&gt; tornado frequency &gt; tornado variability</a:t>
            </a:r>
          </a:p>
        </p:txBody>
      </p:sp>
    </p:spTree>
    <p:extLst>
      <p:ext uri="{BB962C8B-B14F-4D97-AF65-F5344CB8AC3E}">
        <p14:creationId xmlns:p14="http://schemas.microsoft.com/office/powerpoint/2010/main" val="3418706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42C5-6EB4-4147-9ED6-410E6735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Urban growth and temperature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7E46F-C076-4CE3-B50C-E4CAB16F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5/7/2019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EA0C-4F94-479F-9900-95FDF6AB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Population and land-use projections to inform adaptation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C4BF-DF02-48B2-9AD8-D8C39C5F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5A2EC-759C-4F94-894C-D25C236EA4A0}"/>
              </a:ext>
            </a:extLst>
          </p:cNvPr>
          <p:cNvSpPr txBox="1"/>
          <p:nvPr/>
        </p:nvSpPr>
        <p:spPr>
          <a:xfrm>
            <a:off x="555284" y="2169079"/>
            <a:ext cx="4647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Wang &amp; </a:t>
            </a:r>
            <a:r>
              <a:rPr lang="en-US" dirty="0" err="1">
                <a:hlinkClick r:id="rId2"/>
              </a:rPr>
              <a:t>Upreti</a:t>
            </a:r>
            <a:r>
              <a:rPr lang="en-US" dirty="0">
                <a:hlinkClick r:id="rId2"/>
              </a:rPr>
              <a:t> (2019)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Studies have shown that nocturnal warming (“urban heat island”) has implications for human health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Examined urban growth patterns (</a:t>
            </a:r>
            <a:r>
              <a:rPr lang="en-US" i="1" dirty="0"/>
              <a:t>expansion</a:t>
            </a:r>
            <a:r>
              <a:rPr lang="en-US" dirty="0"/>
              <a:t> vs. </a:t>
            </a:r>
            <a:r>
              <a:rPr lang="en-US" i="1" dirty="0"/>
              <a:t>intensification</a:t>
            </a:r>
            <a:r>
              <a:rPr lang="en-US" dirty="0"/>
              <a:t>) and the resultant effects on diurnal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cities (Phoenix, Denver, Las Vegas) comparing 2010 to 2100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8707D6-72FD-46B4-8413-3A8BA7650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422" y="1897579"/>
            <a:ext cx="2587978" cy="37950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296F05-B27D-4B01-BA63-D3A1B0D29C43}"/>
              </a:ext>
            </a:extLst>
          </p:cNvPr>
          <p:cNvSpPr txBox="1"/>
          <p:nvPr/>
        </p:nvSpPr>
        <p:spPr>
          <a:xfrm>
            <a:off x="6971251" y="1459684"/>
            <a:ext cx="654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2D501-DA45-4403-848B-D66CA450C6FE}"/>
              </a:ext>
            </a:extLst>
          </p:cNvPr>
          <p:cNvSpPr txBox="1"/>
          <p:nvPr/>
        </p:nvSpPr>
        <p:spPr>
          <a:xfrm>
            <a:off x="8227261" y="1459684"/>
            <a:ext cx="109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2100 A2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0C925-5AB9-44F7-BD26-06750090F872}"/>
              </a:ext>
            </a:extLst>
          </p:cNvPr>
          <p:cNvSpPr txBox="1"/>
          <p:nvPr/>
        </p:nvSpPr>
        <p:spPr>
          <a:xfrm>
            <a:off x="9487949" y="2281806"/>
            <a:ext cx="93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Phoenix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0A570-2530-4A0B-ACA0-D66FE6FD2852}"/>
              </a:ext>
            </a:extLst>
          </p:cNvPr>
          <p:cNvSpPr txBox="1"/>
          <p:nvPr/>
        </p:nvSpPr>
        <p:spPr>
          <a:xfrm>
            <a:off x="9487949" y="3610437"/>
            <a:ext cx="93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Denver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9CE82-8669-44D7-8C2A-491F4F52F0C6}"/>
              </a:ext>
            </a:extLst>
          </p:cNvPr>
          <p:cNvSpPr txBox="1"/>
          <p:nvPr/>
        </p:nvSpPr>
        <p:spPr>
          <a:xfrm>
            <a:off x="9487949" y="4939068"/>
            <a:ext cx="109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 Vegas</a:t>
            </a:r>
          </a:p>
        </p:txBody>
      </p:sp>
    </p:spTree>
    <p:extLst>
      <p:ext uri="{BB962C8B-B14F-4D97-AF65-F5344CB8AC3E}">
        <p14:creationId xmlns:p14="http://schemas.microsoft.com/office/powerpoint/2010/main" val="225273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11B3-0216-472A-9C54-431A7A6E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Urban growth and temperature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BA4D-289D-43C4-8D64-B89E5601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5/7/2019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BF99-D861-40FC-BFD7-501F9BB9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Population and land-use projections to inform adaptation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CB152-838B-4B87-87EB-23C6AE0D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973BC7-3692-4145-9219-6F01FF9C9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895" y="1669023"/>
            <a:ext cx="4709160" cy="43836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A1702B-06A1-43F5-A276-128D1314B05B}"/>
              </a:ext>
            </a:extLst>
          </p:cNvPr>
          <p:cNvSpPr txBox="1"/>
          <p:nvPr/>
        </p:nvSpPr>
        <p:spPr>
          <a:xfrm>
            <a:off x="693374" y="1948443"/>
            <a:ext cx="4647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sprawliest</a:t>
            </a:r>
            <a:r>
              <a:rPr lang="en-US" dirty="0"/>
              <a:t> city – Phoenix – shows the </a:t>
            </a:r>
            <a:r>
              <a:rPr lang="en-US" i="1" dirty="0"/>
              <a:t>least</a:t>
            </a:r>
            <a:r>
              <a:rPr lang="en-US" dirty="0"/>
              <a:t> nocturnal warming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“oasis effect”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compact growth leads to warmer nights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Adaptation can have unexpected consequences.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Simulations help uncover unintentional outcomes.</a:t>
            </a:r>
          </a:p>
        </p:txBody>
      </p:sp>
    </p:spTree>
    <p:extLst>
      <p:ext uri="{BB962C8B-B14F-4D97-AF65-F5344CB8AC3E}">
        <p14:creationId xmlns:p14="http://schemas.microsoft.com/office/powerpoint/2010/main" val="3107454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8B0C-EFB8-4C2A-97B4-86B33C1E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104" y="338622"/>
            <a:ext cx="6742195" cy="895234"/>
          </a:xfrm>
        </p:spPr>
        <p:txBody>
          <a:bodyPr>
            <a:normAutofit/>
          </a:bodyPr>
          <a:lstStyle/>
          <a:p>
            <a:r>
              <a:rPr lang="en-US" dirty="0"/>
              <a:t>ICLUS as an assessment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997C-7D89-4967-A259-4A35F1879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48934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National/regional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FASOM + ICLUS </a:t>
            </a:r>
          </a:p>
          <a:p>
            <a:pPr lvl="1"/>
            <a:endParaRPr lang="en-US" dirty="0"/>
          </a:p>
          <a:p>
            <a:r>
              <a:rPr lang="en-US" dirty="0"/>
              <a:t>Regional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Strader et al. (2017)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State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MOVES + ICLUS</a:t>
            </a:r>
          </a:p>
          <a:p>
            <a:pPr lvl="1"/>
            <a:endParaRPr lang="en-US" dirty="0"/>
          </a:p>
          <a:p>
            <a:r>
              <a:rPr lang="en-US" dirty="0"/>
              <a:t>City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Wang and </a:t>
            </a:r>
            <a:r>
              <a:rPr lang="en-US" dirty="0" err="1"/>
              <a:t>Upreti</a:t>
            </a:r>
            <a:r>
              <a:rPr lang="en-US" dirty="0"/>
              <a:t> (2019)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4FF80-F87C-48AF-8DF2-9D3577987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7818" y="2208582"/>
            <a:ext cx="5181600" cy="262248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Coastal Assessments</a:t>
            </a:r>
          </a:p>
          <a:p>
            <a:pPr marL="0" indent="0" algn="ctr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USACE North Atlantic Coast Comprehensive Study (2015)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USACE South Atlantic Coastal Study (2022)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E00DD-E5C3-4ECD-A06B-7C7F63CC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78C78-52DB-4F66-892E-6BAF9E18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Land-Use Scenarios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0D6F1-4BA5-4400-8F09-786736AD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14</a:t>
            </a:fld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054A1A9-284A-44B0-B159-09B3C8242621}"/>
              </a:ext>
            </a:extLst>
          </p:cNvPr>
          <p:cNvSpPr/>
          <p:nvPr/>
        </p:nvSpPr>
        <p:spPr>
          <a:xfrm>
            <a:off x="3491756" y="1748934"/>
            <a:ext cx="5834462" cy="3891691"/>
          </a:xfrm>
          <a:prstGeom prst="leftBrace">
            <a:avLst>
              <a:gd name="adj1" fmla="val 11068"/>
              <a:gd name="adj2" fmla="val 32155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8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A26A-0FF6-40C7-995B-30CCA5B4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ICLUS 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4F212-D0EB-45DE-8288-C93F00366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95330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County level population by:</a:t>
            </a:r>
          </a:p>
          <a:p>
            <a:pPr lvl="1"/>
            <a:r>
              <a:rPr lang="en-US" dirty="0"/>
              <a:t>Race (x6)</a:t>
            </a:r>
          </a:p>
          <a:p>
            <a:pPr lvl="2"/>
            <a:r>
              <a:rPr lang="en-US" dirty="0"/>
              <a:t>White</a:t>
            </a:r>
          </a:p>
          <a:p>
            <a:pPr lvl="2"/>
            <a:r>
              <a:rPr lang="en-US" dirty="0"/>
              <a:t>Black</a:t>
            </a:r>
          </a:p>
          <a:p>
            <a:pPr lvl="2"/>
            <a:r>
              <a:rPr lang="en-US" dirty="0"/>
              <a:t>Asian</a:t>
            </a:r>
          </a:p>
          <a:p>
            <a:pPr lvl="2"/>
            <a:r>
              <a:rPr lang="en-US" dirty="0"/>
              <a:t>AIAN</a:t>
            </a:r>
          </a:p>
          <a:p>
            <a:pPr lvl="2"/>
            <a:r>
              <a:rPr lang="en-US" dirty="0"/>
              <a:t>NHPI</a:t>
            </a:r>
          </a:p>
          <a:p>
            <a:pPr lvl="2"/>
            <a:r>
              <a:rPr lang="en-US" dirty="0"/>
              <a:t>Two or More</a:t>
            </a:r>
          </a:p>
          <a:p>
            <a:pPr lvl="1"/>
            <a:r>
              <a:rPr lang="en-US" dirty="0"/>
              <a:t>Age (x18)</a:t>
            </a:r>
          </a:p>
          <a:p>
            <a:pPr lvl="1"/>
            <a:r>
              <a:rPr lang="en-US" dirty="0"/>
              <a:t>Gender</a:t>
            </a:r>
          </a:p>
          <a:p>
            <a:r>
              <a:rPr lang="en-US" dirty="0"/>
              <a:t>Includes Alaska and Hawaii (population only?)</a:t>
            </a:r>
          </a:p>
          <a:p>
            <a:r>
              <a:rPr lang="en-US" dirty="0"/>
              <a:t>Variety of scenarios to 2100</a:t>
            </a:r>
          </a:p>
          <a:p>
            <a:pPr lvl="1"/>
            <a:r>
              <a:rPr lang="en-US" dirty="0"/>
              <a:t>Wittgenstein v2 (i.e., SSPs)</a:t>
            </a:r>
          </a:p>
          <a:p>
            <a:pPr lvl="1"/>
            <a:r>
              <a:rPr lang="en-US" dirty="0"/>
              <a:t>Census 2017 (with immigration scenarios)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FACD8-FA3A-9F6C-BC91-E26FE0C0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0505A-5B0D-47DD-8ADF-94E234431DD9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ADCEB-E09D-CCFF-E1DA-721814D0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2320F-B27E-CD3D-F829-F5BCFA8F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4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386834E-C740-4174-9870-96E8501E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17" y="1396989"/>
            <a:ext cx="10283846" cy="51419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FF65-A700-2900-E6BF-01F0548C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07F5-D127-453D-A2E6-1E636374F0AA}" type="datetime1">
              <a:rPr lang="en-US" smtClean="0"/>
              <a:t>6/18/2025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A548A4-7D09-1552-1F17-FE6EB9D3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19570F-5D1B-1EBA-8A10-75FED363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96BF-AC9A-4E01-A638-3B0C1B4D3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Land Use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53BD-7CB0-47D7-806C-6CCA7E08E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High-resolution (90m) land use data for CONUS</a:t>
            </a:r>
          </a:p>
          <a:p>
            <a:pPr lvl="1"/>
            <a:r>
              <a:rPr lang="en-US" dirty="0">
                <a:hlinkClick r:id="rId2"/>
              </a:rPr>
              <a:t>Theobald, D. (2014)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hlinkClick r:id="rId3"/>
              </a:rPr>
              <a:t>Integrated Climate and Land Use Scenarios (ICLUS), version 2</a:t>
            </a:r>
            <a:endParaRPr lang="en-US" dirty="0"/>
          </a:p>
          <a:p>
            <a:pPr lvl="1"/>
            <a:r>
              <a:rPr lang="en-US" dirty="0"/>
              <a:t>Uses NLUD transition probabilities (2000</a:t>
            </a:r>
            <a:r>
              <a:rPr lang="en-US" dirty="0">
                <a:sym typeface="Wingdings" panose="05000000000000000000" pitchFamily="2" charset="2"/>
              </a:rPr>
              <a:t>2010)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NLUD for ICLUS v3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Modify some land use classes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Retain 30m resolution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Improve documentation and reproducibility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Quantify classification accuracy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BF750D-F8F1-520E-17A8-1BFEFE97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B0D5-EF9B-44F0-B9DC-592F767297E5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34AFD-88DA-B907-B543-537E05AE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0FAFD-2317-1393-8CE4-84625F0D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0077-FE6E-442E-81EC-8396F4B4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2010 NLUD Data Sources (partial)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4646DC6-C366-4F40-A0DE-954B2224C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188251"/>
              </p:ext>
            </p:extLst>
          </p:nvPr>
        </p:nvGraphicFramePr>
        <p:xfrm>
          <a:off x="471488" y="1704975"/>
          <a:ext cx="11277489" cy="475334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843185">
                  <a:extLst>
                    <a:ext uri="{9D8B030D-6E8A-4147-A177-3AD203B41FA5}">
                      <a16:colId xmlns:a16="http://schemas.microsoft.com/office/drawing/2014/main" val="1543678545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4144471253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1070492475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3003153473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904990275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1390329025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2029349138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3211164911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1847100756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3860341183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1410453593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2549751125"/>
                    </a:ext>
                  </a:extLst>
                </a:gridCol>
                <a:gridCol w="786192">
                  <a:extLst>
                    <a:ext uri="{9D8B030D-6E8A-4147-A177-3AD203B41FA5}">
                      <a16:colId xmlns:a16="http://schemas.microsoft.com/office/drawing/2014/main" val="927857578"/>
                    </a:ext>
                  </a:extLst>
                </a:gridCol>
              </a:tblGrid>
              <a:tr h="14157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Transportation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Institutional:  Developed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Institutional: Undeveloped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Mixed Use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Industrial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Commercial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Residential: Very high density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Residential: High Density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Residential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Residential: Low density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Residential: Very low density</a:t>
                      </a:r>
                    </a:p>
                  </a:txBody>
                  <a:tcPr vert="vert270" anchor="ctr" anchorCtr="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Parks and Golf Courses</a:t>
                      </a:r>
                    </a:p>
                  </a:txBody>
                  <a:tcPr vert="vert270" anchor="ctr" anchorCtr="1"/>
                </a:tc>
                <a:extLst>
                  <a:ext uri="{0D108BD9-81ED-4DB2-BD59-A6C34878D82A}">
                    <a16:rowId xmlns:a16="http://schemas.microsoft.com/office/drawing/2014/main" val="1922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NLCD 2011 (LC)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64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NLCD 2011 (ID)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037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ESRI Data &amp;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05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64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Navteq</a:t>
                      </a:r>
                      <a:r>
                        <a:rPr lang="en-US" dirty="0"/>
                        <a:t>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57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DHS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49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LODES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301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UW Silvis BLHD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156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PAD-US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98176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F332B-083C-A797-7B79-0390D773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C08D-B1E0-432B-9B77-3E6CF0BB10AE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909B8-7269-6E91-4D75-8410B5EE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C9F56-5F29-226B-76ED-8121E872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78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41D7-C26F-482B-86FB-DB7F9375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Manhattan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E9FF215E-DE52-41A7-BEE6-B94746D8AA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7" b="20086"/>
          <a:stretch/>
        </p:blipFill>
        <p:spPr>
          <a:xfrm>
            <a:off x="1658471" y="1752109"/>
            <a:ext cx="8875058" cy="4689986"/>
          </a:xfrm>
          <a:prstGeom prst="rect">
            <a:avLst/>
          </a:prstGeom>
          <a:ln>
            <a:noFill/>
          </a:ln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DA1F91-451E-42E9-8584-B0D60AB6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BD47D-1EB9-4686-8B92-C01DEB7D0C39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2DA09-E3E2-3ACC-445E-D38937F5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C56BA-3B88-21E7-02A4-2A56C961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1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EF24-116A-4316-91B3-4099726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Washington, D.C.</a:t>
            </a:r>
          </a:p>
        </p:txBody>
      </p:sp>
      <p:pic>
        <p:nvPicPr>
          <p:cNvPr id="5" name="Picture 4" descr="A picture containing text, display, electronics, screenshot&#10;&#10;Description automatically generated">
            <a:extLst>
              <a:ext uri="{FF2B5EF4-FFF2-40B4-BE49-F238E27FC236}">
                <a16:creationId xmlns:a16="http://schemas.microsoft.com/office/drawing/2014/main" id="{4603F499-F3EE-44A1-8123-BD2405EBC03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5" b="20039"/>
          <a:stretch/>
        </p:blipFill>
        <p:spPr>
          <a:xfrm>
            <a:off x="1655064" y="1755648"/>
            <a:ext cx="8875058" cy="468998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A5D5DB-501E-D936-A7F7-B4F8B900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C10B1-8122-4B63-93A5-BCA756880C6C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1AB9A-6D4D-CE0F-91F6-72E65FAD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BAEC6-C77E-A283-EF76-6C745609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34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B0B6-EAA6-C67B-D115-298A07E3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DCEDD-1DCF-3E75-7722-BD989386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8791A-69B6-45A4-9057-5C2B96742111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76E00-14CA-FCFA-A7B1-193BDC95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23D8D-4C8F-BBF3-4520-01D53CD2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B7D662A-5981-947B-3E6B-1439EEF32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864098"/>
              </p:ext>
            </p:extLst>
          </p:nvPr>
        </p:nvGraphicFramePr>
        <p:xfrm>
          <a:off x="1507433" y="2518777"/>
          <a:ext cx="8869895" cy="207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463">
                  <a:extLst>
                    <a:ext uri="{9D8B030D-6E8A-4147-A177-3AD203B41FA5}">
                      <a16:colId xmlns:a16="http://schemas.microsoft.com/office/drawing/2014/main" val="2241622039"/>
                    </a:ext>
                  </a:extLst>
                </a:gridCol>
                <a:gridCol w="1223159">
                  <a:extLst>
                    <a:ext uri="{9D8B030D-6E8A-4147-A177-3AD203B41FA5}">
                      <a16:colId xmlns:a16="http://schemas.microsoft.com/office/drawing/2014/main" val="2941734463"/>
                    </a:ext>
                  </a:extLst>
                </a:gridCol>
                <a:gridCol w="1941615">
                  <a:extLst>
                    <a:ext uri="{9D8B030D-6E8A-4147-A177-3AD203B41FA5}">
                      <a16:colId xmlns:a16="http://schemas.microsoft.com/office/drawing/2014/main" val="865900522"/>
                    </a:ext>
                  </a:extLst>
                </a:gridCol>
                <a:gridCol w="2036618">
                  <a:extLst>
                    <a:ext uri="{9D8B030D-6E8A-4147-A177-3AD203B41FA5}">
                      <a16:colId xmlns:a16="http://schemas.microsoft.com/office/drawing/2014/main" val="1689845649"/>
                    </a:ext>
                  </a:extLst>
                </a:gridCol>
                <a:gridCol w="2118040">
                  <a:extLst>
                    <a:ext uri="{9D8B030D-6E8A-4147-A177-3AD203B41FA5}">
                      <a16:colId xmlns:a16="http://schemas.microsoft.com/office/drawing/2014/main" val="3558701775"/>
                    </a:ext>
                  </a:extLst>
                </a:gridCol>
              </a:tblGrid>
              <a:tr h="69034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Spatial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(single decade)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(entire century)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429532"/>
                  </a:ext>
                </a:extLst>
              </a:tr>
              <a:tr h="6903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 100 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582669"/>
                  </a:ext>
                </a:extLst>
              </a:tr>
              <a:tr h="6903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Land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GeoTiff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 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~14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~140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230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88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568D8A-B4CC-4309-9B08-9331CEF7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ICLUS v4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25FD43-2944-451C-A201-48DED02E3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734" y="1825625"/>
            <a:ext cx="10752066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Microsimulation of synthetic households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Economic considerations of migration patterns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FY 2022</a:t>
            </a:r>
          </a:p>
          <a:p>
            <a:pPr lvl="1"/>
            <a:r>
              <a:rPr lang="en-US" dirty="0"/>
              <a:t>Identify microsimulation platforms</a:t>
            </a:r>
          </a:p>
          <a:p>
            <a:pPr lvl="1"/>
            <a:r>
              <a:rPr lang="en-US" dirty="0"/>
              <a:t>Identify migration model(s)</a:t>
            </a:r>
          </a:p>
          <a:p>
            <a:r>
              <a:rPr lang="en-US" dirty="0"/>
              <a:t>FY 2023</a:t>
            </a:r>
          </a:p>
          <a:p>
            <a:pPr lvl="1"/>
            <a:r>
              <a:rPr lang="en-US" dirty="0"/>
              <a:t>Develop input data</a:t>
            </a:r>
          </a:p>
          <a:p>
            <a:pPr lvl="1"/>
            <a:r>
              <a:rPr lang="en-US" dirty="0"/>
              <a:t>Develop population model; deploy to HPC</a:t>
            </a:r>
          </a:p>
          <a:p>
            <a:r>
              <a:rPr lang="en-US" dirty="0"/>
              <a:t>FY 2024</a:t>
            </a:r>
          </a:p>
          <a:p>
            <a:pPr lvl="1"/>
            <a:r>
              <a:rPr lang="en-US" dirty="0"/>
              <a:t>Produce 2+ population scenarios</a:t>
            </a:r>
          </a:p>
          <a:p>
            <a:pPr lvl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FB238-B673-3BD2-3DFF-4D204394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76D9A-8E70-4818-BFA0-7004C3682B39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0CC5B-07E5-25C3-197C-0C6E6E18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B53FE-B4A9-1DA4-F0C4-A3618AB9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8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1203</Words>
  <Application>Microsoft Office PowerPoint</Application>
  <PresentationFormat>Widescreen</PresentationFormat>
  <Paragraphs>294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Gill Sans MT</vt:lpstr>
      <vt:lpstr>Wingdings</vt:lpstr>
      <vt:lpstr>Office Theme</vt:lpstr>
      <vt:lpstr>An overview of EPA’s Integrated Climate and Land-use Scenarios</vt:lpstr>
      <vt:lpstr>Integrated Climate and Land-Use Scenarios</vt:lpstr>
      <vt:lpstr>ICLUS model flow</vt:lpstr>
      <vt:lpstr>Washington, D.C. </vt:lpstr>
      <vt:lpstr>FASOM + ICLUS</vt:lpstr>
      <vt:lpstr>FASOM + ICLUS: Some Preliminary Results</vt:lpstr>
      <vt:lpstr>PowerPoint Presentation</vt:lpstr>
      <vt:lpstr>PowerPoint Presentation</vt:lpstr>
      <vt:lpstr>PowerPoint Presentation</vt:lpstr>
      <vt:lpstr>PowerPoint Presentation</vt:lpstr>
      <vt:lpstr>Population growth, climate change and tornado risk</vt:lpstr>
      <vt:lpstr>Urban growth and temperature</vt:lpstr>
      <vt:lpstr>Urban growth and temperature</vt:lpstr>
      <vt:lpstr>ICLUS as an assessment tool</vt:lpstr>
      <vt:lpstr>ICLUS v3</vt:lpstr>
      <vt:lpstr>PowerPoint Presentation</vt:lpstr>
      <vt:lpstr>National Land Use Database</vt:lpstr>
      <vt:lpstr>2010 NLUD Data Sources (partial)</vt:lpstr>
      <vt:lpstr>Comparison: Manhattan</vt:lpstr>
      <vt:lpstr>Comparison: Washington, D.C.</vt:lpstr>
      <vt:lpstr>Outputs</vt:lpstr>
      <vt:lpstr>ICLUS v4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Tarpley, Keith</dc:creator>
  <cp:lastModifiedBy>Phil Morefield</cp:lastModifiedBy>
  <cp:revision>49</cp:revision>
  <dcterms:created xsi:type="dcterms:W3CDTF">2016-06-28T14:09:22Z</dcterms:created>
  <dcterms:modified xsi:type="dcterms:W3CDTF">2025-06-18T13:46:58Z</dcterms:modified>
</cp:coreProperties>
</file>