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6">
  <p:sldMasterIdLst>
    <p:sldMasterId id="2147483648" r:id="rId1"/>
  </p:sldMasterIdLst>
  <p:notesMasterIdLst>
    <p:notesMasterId r:id="rId46"/>
  </p:notesMasterIdLst>
  <p:sldIdLst>
    <p:sldId id="256" r:id="rId2"/>
    <p:sldId id="274" r:id="rId3"/>
    <p:sldId id="294" r:id="rId4"/>
    <p:sldId id="285" r:id="rId5"/>
    <p:sldId id="262" r:id="rId6"/>
    <p:sldId id="279" r:id="rId7"/>
    <p:sldId id="264" r:id="rId8"/>
    <p:sldId id="265" r:id="rId9"/>
    <p:sldId id="261" r:id="rId10"/>
    <p:sldId id="266" r:id="rId11"/>
    <p:sldId id="267" r:id="rId12"/>
    <p:sldId id="278" r:id="rId13"/>
    <p:sldId id="280" r:id="rId14"/>
    <p:sldId id="282" r:id="rId15"/>
    <p:sldId id="284" r:id="rId16"/>
    <p:sldId id="290" r:id="rId17"/>
    <p:sldId id="287" r:id="rId18"/>
    <p:sldId id="272" r:id="rId19"/>
    <p:sldId id="269" r:id="rId20"/>
    <p:sldId id="286" r:id="rId21"/>
    <p:sldId id="292" r:id="rId22"/>
    <p:sldId id="293" r:id="rId23"/>
    <p:sldId id="316" r:id="rId24"/>
    <p:sldId id="311" r:id="rId25"/>
    <p:sldId id="297" r:id="rId26"/>
    <p:sldId id="271" r:id="rId27"/>
    <p:sldId id="296" r:id="rId28"/>
    <p:sldId id="304" r:id="rId29"/>
    <p:sldId id="305" r:id="rId30"/>
    <p:sldId id="301" r:id="rId31"/>
    <p:sldId id="303" r:id="rId32"/>
    <p:sldId id="307" r:id="rId33"/>
    <p:sldId id="308" r:id="rId34"/>
    <p:sldId id="315" r:id="rId35"/>
    <p:sldId id="309" r:id="rId36"/>
    <p:sldId id="310" r:id="rId37"/>
    <p:sldId id="273" r:id="rId38"/>
    <p:sldId id="289" r:id="rId39"/>
    <p:sldId id="288" r:id="rId40"/>
    <p:sldId id="276" r:id="rId41"/>
    <p:sldId id="313" r:id="rId42"/>
    <p:sldId id="314" r:id="rId43"/>
    <p:sldId id="302" r:id="rId44"/>
    <p:sldId id="31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A0D8D7-6D77-45E9-8566-5B28CA7EE3F5}" v="4" dt="2022-05-25T16:14:07.325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2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70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 Morefield" userId="5a43f8f3820cb67c" providerId="LiveId" clId="{CCA0D8D7-6D77-45E9-8566-5B28CA7EE3F5}"/>
    <pc:docChg chg="custSel delSld modSld">
      <pc:chgData name="Phil Morefield" userId="5a43f8f3820cb67c" providerId="LiveId" clId="{CCA0D8D7-6D77-45E9-8566-5B28CA7EE3F5}" dt="2022-05-25T16:13:59.862" v="141" actId="2696"/>
      <pc:docMkLst>
        <pc:docMk/>
      </pc:docMkLst>
      <pc:sldChg chg="del">
        <pc:chgData name="Phil Morefield" userId="5a43f8f3820cb67c" providerId="LiveId" clId="{CCA0D8D7-6D77-45E9-8566-5B28CA7EE3F5}" dt="2022-05-25T16:01:11.565" v="0" actId="2696"/>
        <pc:sldMkLst>
          <pc:docMk/>
          <pc:sldMk cId="2280551093" sldId="261"/>
        </pc:sldMkLst>
      </pc:sldChg>
      <pc:sldChg chg="del">
        <pc:chgData name="Phil Morefield" userId="5a43f8f3820cb67c" providerId="LiveId" clId="{CCA0D8D7-6D77-45E9-8566-5B28CA7EE3F5}" dt="2022-05-25T16:01:11.565" v="0" actId="2696"/>
        <pc:sldMkLst>
          <pc:docMk/>
          <pc:sldMk cId="234185650" sldId="264"/>
        </pc:sldMkLst>
      </pc:sldChg>
      <pc:sldChg chg="del">
        <pc:chgData name="Phil Morefield" userId="5a43f8f3820cb67c" providerId="LiveId" clId="{CCA0D8D7-6D77-45E9-8566-5B28CA7EE3F5}" dt="2022-05-25T16:01:11.565" v="0" actId="2696"/>
        <pc:sldMkLst>
          <pc:docMk/>
          <pc:sldMk cId="1235404231" sldId="265"/>
        </pc:sldMkLst>
      </pc:sldChg>
      <pc:sldChg chg="del">
        <pc:chgData name="Phil Morefield" userId="5a43f8f3820cb67c" providerId="LiveId" clId="{CCA0D8D7-6D77-45E9-8566-5B28CA7EE3F5}" dt="2022-05-25T16:01:11.565" v="0" actId="2696"/>
        <pc:sldMkLst>
          <pc:docMk/>
          <pc:sldMk cId="315895597" sldId="266"/>
        </pc:sldMkLst>
      </pc:sldChg>
      <pc:sldChg chg="del">
        <pc:chgData name="Phil Morefield" userId="5a43f8f3820cb67c" providerId="LiveId" clId="{CCA0D8D7-6D77-45E9-8566-5B28CA7EE3F5}" dt="2022-05-25T16:01:11.565" v="0" actId="2696"/>
        <pc:sldMkLst>
          <pc:docMk/>
          <pc:sldMk cId="1216081697" sldId="267"/>
        </pc:sldMkLst>
      </pc:sldChg>
      <pc:sldChg chg="del">
        <pc:chgData name="Phil Morefield" userId="5a43f8f3820cb67c" providerId="LiveId" clId="{CCA0D8D7-6D77-45E9-8566-5B28CA7EE3F5}" dt="2022-05-25T16:07:30.186" v="2" actId="2696"/>
        <pc:sldMkLst>
          <pc:docMk/>
          <pc:sldMk cId="3185512018" sldId="269"/>
        </pc:sldMkLst>
      </pc:sldChg>
      <pc:sldChg chg="modSp mod">
        <pc:chgData name="Phil Morefield" userId="5a43f8f3820cb67c" providerId="LiveId" clId="{CCA0D8D7-6D77-45E9-8566-5B28CA7EE3F5}" dt="2022-05-25T16:13:16.529" v="140" actId="20577"/>
        <pc:sldMkLst>
          <pc:docMk/>
          <pc:sldMk cId="2738543722" sldId="272"/>
        </pc:sldMkLst>
        <pc:spChg chg="mod">
          <ac:chgData name="Phil Morefield" userId="5a43f8f3820cb67c" providerId="LiveId" clId="{CCA0D8D7-6D77-45E9-8566-5B28CA7EE3F5}" dt="2022-05-25T16:13:16.529" v="140" actId="20577"/>
          <ac:spMkLst>
            <pc:docMk/>
            <pc:sldMk cId="2738543722" sldId="272"/>
            <ac:spMk id="8" creationId="{D38895DC-27BE-4930-B9A3-0EC2FBAA8036}"/>
          </ac:spMkLst>
        </pc:spChg>
      </pc:sldChg>
      <pc:sldChg chg="del">
        <pc:chgData name="Phil Morefield" userId="5a43f8f3820cb67c" providerId="LiveId" clId="{CCA0D8D7-6D77-45E9-8566-5B28CA7EE3F5}" dt="2022-05-25T16:13:59.862" v="141" actId="2696"/>
        <pc:sldMkLst>
          <pc:docMk/>
          <pc:sldMk cId="2672698727" sldId="273"/>
        </pc:sldMkLst>
      </pc:sldChg>
      <pc:sldChg chg="del">
        <pc:chgData name="Phil Morefield" userId="5a43f8f3820cb67c" providerId="LiveId" clId="{CCA0D8D7-6D77-45E9-8566-5B28CA7EE3F5}" dt="2022-05-25T16:05:23.894" v="1" actId="2696"/>
        <pc:sldMkLst>
          <pc:docMk/>
          <pc:sldMk cId="1434121340" sldId="276"/>
        </pc:sldMkLst>
      </pc:sldChg>
      <pc:sldChg chg="del">
        <pc:chgData name="Phil Morefield" userId="5a43f8f3820cb67c" providerId="LiveId" clId="{CCA0D8D7-6D77-45E9-8566-5B28CA7EE3F5}" dt="2022-05-25T16:05:23.894" v="1" actId="2696"/>
        <pc:sldMkLst>
          <pc:docMk/>
          <pc:sldMk cId="2977649038" sldId="288"/>
        </pc:sldMkLst>
      </pc:sldChg>
      <pc:sldChg chg="del">
        <pc:chgData name="Phil Morefield" userId="5a43f8f3820cb67c" providerId="LiveId" clId="{CCA0D8D7-6D77-45E9-8566-5B28CA7EE3F5}" dt="2022-05-25T16:05:23.894" v="1" actId="2696"/>
        <pc:sldMkLst>
          <pc:docMk/>
          <pc:sldMk cId="406630847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18D73-5B8A-40BC-8716-4B0F18008894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DDD3A-A34A-49AD-BF77-6F722D819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6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to 12%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DDD3A-A34A-49AD-BF77-6F722D81909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43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to 25%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DDD3A-A34A-49AD-BF77-6F722D819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86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1F65-8611-436B-867A-6A370D812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C3FEF-73E8-4601-9CD1-21235F0AE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5095-D1F2-4AD1-99BD-67C9CB0B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40BF1-E57C-4A69-9A1C-5F9CEBAE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75037-3143-4CEB-856C-FCEAD9C0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0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F78D-E237-4AC0-9E43-375ED9B0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5828-8767-40A6-B54C-FE275C81E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19030-DB68-4050-A830-82532426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BB3FB-A94A-48A3-B4EE-1B5B184E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EC3A-EF36-470C-956A-D556D914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5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CB05-6846-4D70-A272-553B4CD1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FAEBA-70AD-4DAE-8982-F8E2F05B3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18DD5-0932-4749-8C27-2089AD7B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C109A-C36D-46D1-A7FB-E6C84B27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B3332-503E-46FB-90E6-6C8D362F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81BB-9CE9-4FF4-9C52-99E78520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6F36D-556D-4165-8CFB-035A9F2B5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DCABE-7FD6-4A82-B1E8-E0A52E92F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0EF3C-E640-495D-9B29-F1D4F582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0EC31-18F1-496C-8227-6B09D19B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40959-5844-476E-9063-DA99A9DE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9013-00F5-4CEA-9F79-5B159D77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C62E7-0AB8-4A35-B5E1-2CD3782D2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8789A-6034-4C99-A8A1-421FDEF9C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A7F03-4DDB-4FE4-AA9F-C1791220A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78232-CE17-450A-80F7-1025EDC02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E4B5B-0FA2-4DE2-A7D5-776C8ED1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46770-A75A-48EE-9C1D-F71E697B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E9FE3-0FC5-4633-8E54-2C06D8A5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5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7BBF-DFBA-49B2-9DFD-58F9E84F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492AC-A97D-4E70-AAA2-02D53EC7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56F4F-0BEC-47EE-8F52-30E1D022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06AAE-B1EB-43E0-9B53-884DE46B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4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EA17E-1845-4BFC-9857-F7C30DD9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F2EE7-E0B9-406B-8355-ECC2EEB1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6CCE2-EAD0-4477-A1FF-18922DE2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8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1A5A-F3C7-4F41-9CB5-53521EB4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AC42-78E5-443D-BC09-E417B7E5B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60DC6-22A7-45B4-9F0D-9B6BA1E76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065AD-AD6F-45AA-8A06-896331DD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2F48B-07A9-4D5C-9F4D-F0B83D8C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66BE-C5A4-4C84-BF5D-3F412E28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9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84F0-0115-4ABA-885B-3FB82984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A6CBDD-A2B4-4644-B853-C9881F937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BF1DC-999A-459D-9B50-6F4F13DC9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8450-8E72-4B80-9B1E-B53B5BD5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E04D3-16B9-476F-BAA8-955BB35A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D08D-CBBF-4E28-8FF1-9109FD49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8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6A621-5686-4218-A94A-C9C35AF4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ADA47-70D3-448D-A31D-7CCD1A4CD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2CA7B-0C32-4706-9BC2-3F336CA4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DBF03-44E9-4688-B4CC-62B609E7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AB43-4BC0-4330-BAA2-351DF379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4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F702D8-FE78-4A0B-A1E2-B7E5310CF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4C8F0-75C0-4CB5-A47B-C36F0A31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7ABE4-6839-4971-A4D1-D88BF91B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5D550-7772-4463-A9FE-515BD5E7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D9DA-62C1-475B-9571-0081681E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8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7ACD0-EFA9-4713-B264-577C65E8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3BADF-7208-4F3C-9D96-4AC8A189C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FF1DF-8514-4E30-B666-7C7BCAB29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970E-F457-4D76-AA74-F13250692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6B9C-0C31-4CBB-B584-3317D843F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65BEC-B552-4C4A-B55F-3AE19CA61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DCA1-30F5-4092-8EF1-A15C142F44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Using Zero-inflated Regression and the Homophily Principle to Model Migration for Population Projections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59D15-6D2D-4AD7-AEA5-E23277415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8629"/>
            <a:ext cx="9144000" cy="1655762"/>
          </a:xfrm>
        </p:spPr>
        <p:txBody>
          <a:bodyPr/>
          <a:lstStyle/>
          <a:p>
            <a:r>
              <a:rPr lang="en-US" dirty="0"/>
              <a:t>Phil Morefield</a:t>
            </a:r>
          </a:p>
        </p:txBody>
      </p:sp>
    </p:spTree>
    <p:extLst>
      <p:ext uri="{BB962C8B-B14F-4D97-AF65-F5344CB8AC3E}">
        <p14:creationId xmlns:p14="http://schemas.microsoft.com/office/powerpoint/2010/main" val="206992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0D55-BAF0-477E-BCE8-B6F421A23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My Research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B863-4634-4972-AEB3-4A0003D43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projections to assess environmental impacts and climate change vulnerability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Sub-national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End of century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Minority and vulnerable population</a:t>
            </a:r>
          </a:p>
          <a:p>
            <a:r>
              <a:rPr lang="en-US" dirty="0"/>
              <a:t>Migration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Under-represented in population projections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Response to climate change &amp; sea-level rise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A9C54-6B17-4337-B605-E560447B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6337C-D055-40D7-B787-718C7825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BC7A-4CD3-42ED-B018-7C823804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6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009FAA-BEE5-5A4B-9C4C-17EC9C15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My Research Process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365F02-E1D3-3D46-B490-695D42DFF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u="sng" dirty="0"/>
              <a:t>Proposal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F77434-E31C-9346-BC1A-D05CB5BC2D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Evaluate the radiation model</a:t>
            </a:r>
          </a:p>
          <a:p>
            <a:endParaRPr lang="en-US" dirty="0"/>
          </a:p>
          <a:p>
            <a:r>
              <a:rPr lang="en-US" dirty="0"/>
              <a:t>Explore race and age in migration modeling</a:t>
            </a:r>
          </a:p>
          <a:p>
            <a:endParaRPr lang="en-US" dirty="0"/>
          </a:p>
          <a:p>
            <a:r>
              <a:rPr lang="en-US" dirty="0"/>
              <a:t>Assess sub-national population projections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7BB8D2-953C-5345-9D11-595AD5198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u="sng" dirty="0"/>
              <a:t>Dissertation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BF6DAA7-E933-D840-9F90-0E50FA08889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The radiation model doesn’t 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Identify alternative</a:t>
            </a:r>
          </a:p>
          <a:p>
            <a:pPr lvl="1"/>
            <a:endParaRPr lang="en-US" dirty="0"/>
          </a:p>
          <a:p>
            <a:r>
              <a:rPr lang="en-US" dirty="0"/>
              <a:t>The Homophily Principle</a:t>
            </a:r>
          </a:p>
          <a:p>
            <a:endParaRPr lang="en-US" dirty="0"/>
          </a:p>
          <a:p>
            <a:r>
              <a:rPr lang="en-US" dirty="0"/>
              <a:t>Accuracy benchmarks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449F-AABB-6A46-BA06-80E73BC8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1FF4C-9060-2346-85D2-EA585B96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3A446-DAB1-DA49-8AC7-B3F23019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0CC9EA-C044-466C-B53F-659BB17C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#1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80DAB2-F639-42B9-BEA5-F63427C13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Does the radiation model outperform regression-based spatial interaction models?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985C3-848A-4AB2-9BD8-A19D20D2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C2601-2B32-48D5-84DB-7B59D00B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16039-CCC8-48AF-B843-21BB22A5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4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A6A2-9FA4-45B7-8590-7324805C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00100"/>
          </a:xfrm>
        </p:spPr>
        <p:txBody>
          <a:bodyPr/>
          <a:lstStyle/>
          <a:p>
            <a:pPr algn="ctr"/>
            <a:r>
              <a:rPr lang="en-US" b="1" dirty="0"/>
              <a:t>The Radiation Model</a:t>
            </a:r>
            <a:br>
              <a:rPr lang="en-US" dirty="0"/>
            </a:br>
            <a:r>
              <a:rPr lang="en-US" sz="1200" dirty="0"/>
              <a:t>Simini et al (2012)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1618B-B9B4-4E21-804E-33C297471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055" y="1541027"/>
            <a:ext cx="3932237" cy="124645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Parameter 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Rigorous theoretical derivation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than the gravity model!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E7124-40B2-4D34-B1E8-14D58301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9BE7C-7834-48F7-941B-CB87720E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BDDB6-7B8E-4C93-8732-5E589582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5</a:t>
            </a:fld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A1129C6-38A2-4C18-8A96-05217B39585E}"/>
              </a:ext>
            </a:extLst>
          </p:cNvPr>
          <p:cNvSpPr txBox="1">
            <a:spLocks/>
          </p:cNvSpPr>
          <p:nvPr/>
        </p:nvSpPr>
        <p:spPr>
          <a:xfrm>
            <a:off x="838200" y="3504530"/>
            <a:ext cx="4660231" cy="160489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Limitations of Simini et al.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100" i="1" dirty="0">
                <a:solidFill>
                  <a:schemeClr val="bg1"/>
                </a:solidFill>
              </a:rPr>
              <a:t>Only tested using one year of one migration data source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100" i="1" dirty="0">
                <a:solidFill>
                  <a:schemeClr val="bg1"/>
                </a:solidFill>
              </a:rPr>
              <a:t>The gravity model is old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B63B9A-818B-43FE-96CC-9476E50B4A41}"/>
                  </a:ext>
                </a:extLst>
              </p:cNvPr>
              <p:cNvSpPr txBox="1"/>
              <p:nvPr/>
            </p:nvSpPr>
            <p:spPr>
              <a:xfrm>
                <a:off x="6262771" y="997120"/>
                <a:ext cx="4587679" cy="718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B63B9A-818B-43FE-96CC-9476E50B4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71" y="997120"/>
                <a:ext cx="4587679" cy="718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486C09-5A93-4746-99DB-B8C9E4AA9515}"/>
                  </a:ext>
                </a:extLst>
              </p:cNvPr>
              <p:cNvSpPr txBox="1"/>
              <p:nvPr/>
            </p:nvSpPr>
            <p:spPr>
              <a:xfrm>
                <a:off x="7762339" y="3575045"/>
                <a:ext cx="1974089" cy="731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486C09-5A93-4746-99DB-B8C9E4AA9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339" y="3575045"/>
                <a:ext cx="1974089" cy="731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1005126-F6DE-4A51-A4D6-6A73517158D2}"/>
              </a:ext>
            </a:extLst>
          </p:cNvPr>
          <p:cNvSpPr txBox="1"/>
          <p:nvPr/>
        </p:nvSpPr>
        <p:spPr>
          <a:xfrm>
            <a:off x="8230673" y="1814660"/>
            <a:ext cx="150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The Radiation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B6E83D-51B9-418F-B8E6-F12BF62973A7}"/>
              </a:ext>
            </a:extLst>
          </p:cNvPr>
          <p:cNvSpPr txBox="1"/>
          <p:nvPr/>
        </p:nvSpPr>
        <p:spPr>
          <a:xfrm>
            <a:off x="8310766" y="4378359"/>
            <a:ext cx="150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2">
                    <a:lumMod val="50000"/>
                  </a:schemeClr>
                </a:solidFill>
              </a:rPr>
              <a:t>The Gravity Model</a:t>
            </a:r>
          </a:p>
        </p:txBody>
      </p:sp>
    </p:spTree>
    <p:extLst>
      <p:ext uri="{BB962C8B-B14F-4D97-AF65-F5344CB8AC3E}">
        <p14:creationId xmlns:p14="http://schemas.microsoft.com/office/powerpoint/2010/main" val="95607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9BFA-1CCB-4A6B-8312-5B582C7F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Does the radiation model outperform regression-based spatial interaction models?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2F7EB-AB62-4E2F-A3E3-D4A093DE5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endParaRPr lang="en-US" b="1" u="sng" dirty="0"/>
          </a:p>
          <a:p>
            <a:pPr algn="ctr"/>
            <a:r>
              <a:rPr lang="en-US" b="1" u="sng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Widely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Publicly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National scope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County-to-county 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90%-99% of all possible county-to-county flows are zero or suppressed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Demographic attributes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IRS: None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ACS and 2000 Census: No crosstabulation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1990 Census: Full crosstabulation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C9250-D821-4193-A301-955359A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50FAD-BEC8-4995-AAEE-FDB62CAA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73C3-780D-42BB-A755-3A1700E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C25A208-79C8-469E-9D22-8BBCE55AC149}"/>
              </a:ext>
            </a:extLst>
          </p:cNvPr>
          <p:cNvGraphicFramePr>
            <a:graphicFrameLocks noGrp="1"/>
          </p:cNvGraphicFramePr>
          <p:nvPr/>
        </p:nvGraphicFramePr>
        <p:xfrm>
          <a:off x="5254752" y="1963410"/>
          <a:ext cx="6620256" cy="209042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833292">
                  <a:extLst>
                    <a:ext uri="{9D8B030D-6E8A-4147-A177-3AD203B41FA5}">
                      <a16:colId xmlns:a16="http://schemas.microsoft.com/office/drawing/2014/main" val="3014279893"/>
                    </a:ext>
                  </a:extLst>
                </a:gridCol>
                <a:gridCol w="1663728">
                  <a:extLst>
                    <a:ext uri="{9D8B030D-6E8A-4147-A177-3AD203B41FA5}">
                      <a16:colId xmlns:a16="http://schemas.microsoft.com/office/drawing/2014/main" val="1181290121"/>
                    </a:ext>
                  </a:extLst>
                </a:gridCol>
                <a:gridCol w="1778812">
                  <a:extLst>
                    <a:ext uri="{9D8B030D-6E8A-4147-A177-3AD203B41FA5}">
                      <a16:colId xmlns:a16="http://schemas.microsoft.com/office/drawing/2014/main" val="1580366623"/>
                    </a:ext>
                  </a:extLst>
                </a:gridCol>
                <a:gridCol w="1172212">
                  <a:extLst>
                    <a:ext uri="{9D8B030D-6E8A-4147-A177-3AD203B41FA5}">
                      <a16:colId xmlns:a16="http://schemas.microsoft.com/office/drawing/2014/main" val="3400892079"/>
                    </a:ext>
                  </a:extLst>
                </a:gridCol>
                <a:gridCol w="1172212">
                  <a:extLst>
                    <a:ext uri="{9D8B030D-6E8A-4147-A177-3AD203B41FA5}">
                      <a16:colId xmlns:a16="http://schemas.microsoft.com/office/drawing/2014/main" val="770508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Time periods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Migration interval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Suppressions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Method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87163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IRS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2013 to 2017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Annual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Flows &lt; 20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Tax returns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8944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ACS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2007 to 2015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Annual (five-year average)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Small flows</a:t>
                      </a:r>
                      <a:r>
                        <a:rPr lang="en-US" sz="1600" baseline="300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Survey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59918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Census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1990 and 2000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Five years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Unknown</a:t>
                      </a:r>
                      <a:r>
                        <a:rPr lang="en-US" sz="1600" baseline="300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Survey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88731095"/>
                  </a:ext>
                </a:extLst>
              </a:tr>
            </a:tbl>
          </a:graphicData>
        </a:graphic>
      </p:graphicFrame>
      <p:sp>
        <p:nvSpPr>
          <p:cNvPr id="24" name="Rectangle 4">
            <a:extLst>
              <a:ext uri="{FF2B5EF4-FFF2-40B4-BE49-F238E27FC236}">
                <a16:creationId xmlns:a16="http://schemas.microsoft.com/office/drawing/2014/main" id="{EA44C7EE-E7F5-4E9E-8A6D-712B23819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7376" y="429472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71CDD4E2-D0C3-4D6A-86A5-1D52DC0E0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" y="5906165"/>
            <a:ext cx="112471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Flows containing only one or two people from different households, only one or two people in group quarters, or one person in group quarters and the rest from a single household are suppressed.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Technical documentation of the long form Census questionnaire is available but makes no specific mention of migration data suppression procedures.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27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51817E-DEF1-4CA2-BE6B-4937D2A6C494}"/>
              </a:ext>
            </a:extLst>
          </p:cNvPr>
          <p:cNvSpPr/>
          <p:nvPr/>
        </p:nvSpPr>
        <p:spPr>
          <a:xfrm>
            <a:off x="4863352" y="301992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5FF0D2-55E7-47BD-B005-E87E0A95F79A}"/>
              </a:ext>
            </a:extLst>
          </p:cNvPr>
          <p:cNvSpPr/>
          <p:nvPr/>
        </p:nvSpPr>
        <p:spPr>
          <a:xfrm>
            <a:off x="6875929" y="3019925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j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B80034-AAFD-4201-A152-EE39CAEE850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5229112" y="3202805"/>
            <a:ext cx="1646817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CD727-3ABB-400B-B1E1-35AA58263FE0}"/>
                  </a:ext>
                </a:extLst>
              </p:cNvPr>
              <p:cNvSpPr txBox="1"/>
              <p:nvPr/>
            </p:nvSpPr>
            <p:spPr>
              <a:xfrm>
                <a:off x="5876093" y="2812052"/>
                <a:ext cx="352854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CD727-3ABB-400B-B1E1-35AA58263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093" y="2812052"/>
                <a:ext cx="352854" cy="299313"/>
              </a:xfrm>
              <a:prstGeom prst="rect">
                <a:avLst/>
              </a:prstGeom>
              <a:blipFill>
                <a:blip r:embed="rId2"/>
                <a:stretch>
                  <a:fillRect l="-15517" r="-12069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E4309-9CEF-44CB-AD1F-7BDCF264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D4810-464A-4226-BDCC-A0CAAD6B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0529-5687-4714-81FD-17B7335A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4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51817E-DEF1-4CA2-BE6B-4937D2A6C494}"/>
              </a:ext>
            </a:extLst>
          </p:cNvPr>
          <p:cNvSpPr/>
          <p:nvPr/>
        </p:nvSpPr>
        <p:spPr>
          <a:xfrm>
            <a:off x="4863352" y="301992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5FF0D2-55E7-47BD-B005-E87E0A95F79A}"/>
              </a:ext>
            </a:extLst>
          </p:cNvPr>
          <p:cNvSpPr/>
          <p:nvPr/>
        </p:nvSpPr>
        <p:spPr>
          <a:xfrm>
            <a:off x="6875929" y="3019925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j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05426C6-704F-45CE-BDD0-D8D2F1136A83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5229112" y="3202805"/>
            <a:ext cx="1646817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248A2-A944-443B-BF7E-04842FDEA24D}"/>
                  </a:ext>
                </a:extLst>
              </p:cNvPr>
              <p:cNvSpPr txBox="1"/>
              <p:nvPr/>
            </p:nvSpPr>
            <p:spPr>
              <a:xfrm>
                <a:off x="5879592" y="2816352"/>
                <a:ext cx="389722" cy="313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248A2-A944-443B-BF7E-04842FDEA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592" y="2816352"/>
                <a:ext cx="389722" cy="313099"/>
              </a:xfrm>
              <a:prstGeom prst="rect">
                <a:avLst/>
              </a:prstGeom>
              <a:blipFill>
                <a:blip r:embed="rId2"/>
                <a:stretch>
                  <a:fillRect l="-14286" t="-13725" r="-39683" b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C693F3-8139-44D2-B359-41931BFC02BC}"/>
                  </a:ext>
                </a:extLst>
              </p:cNvPr>
              <p:cNvSpPr txBox="1"/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C693F3-8139-44D2-B359-41931BFC0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FBB81-B401-4548-A28D-55EE2359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F9122-C406-427C-B881-75A12646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7B569-F66F-4E8E-84D7-B641B15C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51817E-DEF1-4CA2-BE6B-4937D2A6C494}"/>
              </a:ext>
            </a:extLst>
          </p:cNvPr>
          <p:cNvSpPr/>
          <p:nvPr/>
        </p:nvSpPr>
        <p:spPr>
          <a:xfrm>
            <a:off x="4863352" y="301992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5FF0D2-55E7-47BD-B005-E87E0A95F79A}"/>
              </a:ext>
            </a:extLst>
          </p:cNvPr>
          <p:cNvSpPr/>
          <p:nvPr/>
        </p:nvSpPr>
        <p:spPr>
          <a:xfrm>
            <a:off x="6875929" y="3019925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j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918194-E29B-447A-8E16-C2BD283B8F18}"/>
              </a:ext>
            </a:extLst>
          </p:cNvPr>
          <p:cNvSpPr/>
          <p:nvPr/>
        </p:nvSpPr>
        <p:spPr>
          <a:xfrm>
            <a:off x="5421818" y="2177716"/>
            <a:ext cx="674182" cy="6570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0314B4-17B4-4BAC-B3D8-06FA4C460ABA}"/>
              </a:ext>
            </a:extLst>
          </p:cNvPr>
          <p:cNvCxnSpPr>
            <a:cxnSpLocks/>
          </p:cNvCxnSpPr>
          <p:nvPr/>
        </p:nvCxnSpPr>
        <p:spPr>
          <a:xfrm>
            <a:off x="5229112" y="3202805"/>
            <a:ext cx="1646817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07A4FD-C77E-4766-B35C-B7850C2A34D5}"/>
                  </a:ext>
                </a:extLst>
              </p:cNvPr>
              <p:cNvSpPr txBox="1"/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07A4FD-C77E-4766-B35C-B7850C2A3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9E813-B63A-44B7-9754-1525B962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47B06-CC1E-4495-8CA2-92CEEF8F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EC61A-58E6-4BCA-9865-B9F3612A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90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3E7404B-F614-413A-B6F5-7B04C956E8B9}"/>
              </a:ext>
            </a:extLst>
          </p:cNvPr>
          <p:cNvSpPr/>
          <p:nvPr/>
        </p:nvSpPr>
        <p:spPr>
          <a:xfrm>
            <a:off x="2944008" y="1306157"/>
            <a:ext cx="4116465" cy="402336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51817E-DEF1-4CA2-BE6B-4937D2A6C494}"/>
              </a:ext>
            </a:extLst>
          </p:cNvPr>
          <p:cNvSpPr/>
          <p:nvPr/>
        </p:nvSpPr>
        <p:spPr>
          <a:xfrm>
            <a:off x="4863352" y="301992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5FF0D2-55E7-47BD-B005-E87E0A95F79A}"/>
              </a:ext>
            </a:extLst>
          </p:cNvPr>
          <p:cNvSpPr/>
          <p:nvPr/>
        </p:nvSpPr>
        <p:spPr>
          <a:xfrm>
            <a:off x="6875929" y="3019925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j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918194-E29B-447A-8E16-C2BD283B8F18}"/>
              </a:ext>
            </a:extLst>
          </p:cNvPr>
          <p:cNvSpPr/>
          <p:nvPr/>
        </p:nvSpPr>
        <p:spPr>
          <a:xfrm>
            <a:off x="5421818" y="2177716"/>
            <a:ext cx="674182" cy="6570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0314B4-17B4-4BAC-B3D8-06FA4C460ABA}"/>
              </a:ext>
            </a:extLst>
          </p:cNvPr>
          <p:cNvCxnSpPr>
            <a:cxnSpLocks/>
          </p:cNvCxnSpPr>
          <p:nvPr/>
        </p:nvCxnSpPr>
        <p:spPr>
          <a:xfrm>
            <a:off x="5229112" y="3202805"/>
            <a:ext cx="1646817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90B32E2-17FE-4FD1-B087-AC0FF89BB63F}"/>
              </a:ext>
            </a:extLst>
          </p:cNvPr>
          <p:cNvSpPr/>
          <p:nvPr/>
        </p:nvSpPr>
        <p:spPr>
          <a:xfrm>
            <a:off x="3342602" y="2660812"/>
            <a:ext cx="674182" cy="6570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AEB984-D648-4018-8639-B6E445CEC1AA}"/>
              </a:ext>
            </a:extLst>
          </p:cNvPr>
          <p:cNvSpPr/>
          <p:nvPr/>
        </p:nvSpPr>
        <p:spPr>
          <a:xfrm>
            <a:off x="4299370" y="3516626"/>
            <a:ext cx="674182" cy="6570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320773-6693-4172-89AD-16A266E37A04}"/>
                  </a:ext>
                </a:extLst>
              </p:cNvPr>
              <p:cNvSpPr txBox="1"/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320773-6693-4172-89AD-16A266E37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9F7B2A4-FACF-48D0-9D74-23BD16D0D9E8}"/>
              </a:ext>
            </a:extLst>
          </p:cNvPr>
          <p:cNvSpPr txBox="1"/>
          <p:nvPr/>
        </p:nvSpPr>
        <p:spPr>
          <a:xfrm>
            <a:off x="291736" y="2948505"/>
            <a:ext cx="264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Intervening Opportunities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165654-B193-4856-8E55-EBE8FEA0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E926F-2CCF-4A1A-8942-934A3A4E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6C539-00E9-438B-A89A-E66A6378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25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6E8D5E9-D67F-4B22-839E-2CB2623345BD}"/>
              </a:ext>
            </a:extLst>
          </p:cNvPr>
          <p:cNvSpPr/>
          <p:nvPr/>
        </p:nvSpPr>
        <p:spPr>
          <a:xfrm>
            <a:off x="5046232" y="1306157"/>
            <a:ext cx="4116465" cy="4023360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E7404B-F614-413A-B6F5-7B04C956E8B9}"/>
              </a:ext>
            </a:extLst>
          </p:cNvPr>
          <p:cNvSpPr/>
          <p:nvPr/>
        </p:nvSpPr>
        <p:spPr>
          <a:xfrm>
            <a:off x="2944008" y="1306157"/>
            <a:ext cx="4116465" cy="402336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51817E-DEF1-4CA2-BE6B-4937D2A6C494}"/>
              </a:ext>
            </a:extLst>
          </p:cNvPr>
          <p:cNvSpPr/>
          <p:nvPr/>
        </p:nvSpPr>
        <p:spPr>
          <a:xfrm>
            <a:off x="4863352" y="3019925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/>
              <a:t>i</a:t>
            </a:r>
            <a:endParaRPr lang="en-US" i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5FF0D2-55E7-47BD-B005-E87E0A95F79A}"/>
              </a:ext>
            </a:extLst>
          </p:cNvPr>
          <p:cNvSpPr/>
          <p:nvPr/>
        </p:nvSpPr>
        <p:spPr>
          <a:xfrm>
            <a:off x="6875929" y="3019925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B36B04-9BB4-4A51-8959-AF2164312107}"/>
                  </a:ext>
                </a:extLst>
              </p:cNvPr>
              <p:cNvSpPr txBox="1"/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B36B04-9BB4-4A51-8959-AF2164312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6232" y="408531"/>
                <a:ext cx="1682830" cy="7147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AB918194-E29B-447A-8E16-C2BD283B8F18}"/>
              </a:ext>
            </a:extLst>
          </p:cNvPr>
          <p:cNvSpPr/>
          <p:nvPr/>
        </p:nvSpPr>
        <p:spPr>
          <a:xfrm>
            <a:off x="5421818" y="2177716"/>
            <a:ext cx="674182" cy="65702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0314B4-17B4-4BAC-B3D8-06FA4C460ABA}"/>
              </a:ext>
            </a:extLst>
          </p:cNvPr>
          <p:cNvCxnSpPr>
            <a:cxnSpLocks/>
          </p:cNvCxnSpPr>
          <p:nvPr/>
        </p:nvCxnSpPr>
        <p:spPr>
          <a:xfrm>
            <a:off x="5229112" y="3202805"/>
            <a:ext cx="1646817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90B32E2-17FE-4FD1-B087-AC0FF89BB63F}"/>
              </a:ext>
            </a:extLst>
          </p:cNvPr>
          <p:cNvSpPr/>
          <p:nvPr/>
        </p:nvSpPr>
        <p:spPr>
          <a:xfrm>
            <a:off x="3342602" y="2660812"/>
            <a:ext cx="674182" cy="6570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AEB984-D648-4018-8639-B6E445CEC1AA}"/>
              </a:ext>
            </a:extLst>
          </p:cNvPr>
          <p:cNvSpPr/>
          <p:nvPr/>
        </p:nvSpPr>
        <p:spPr>
          <a:xfrm>
            <a:off x="4299370" y="3516626"/>
            <a:ext cx="674182" cy="65702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B0E4BB-8762-4AB5-AD84-2A01576090F0}"/>
              </a:ext>
            </a:extLst>
          </p:cNvPr>
          <p:cNvSpPr txBox="1"/>
          <p:nvPr/>
        </p:nvSpPr>
        <p:spPr>
          <a:xfrm>
            <a:off x="291736" y="2948505"/>
            <a:ext cx="264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Intervening Opportunities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108585-7CEF-4896-8ABA-F1E33333699C}"/>
              </a:ext>
            </a:extLst>
          </p:cNvPr>
          <p:cNvSpPr/>
          <p:nvPr/>
        </p:nvSpPr>
        <p:spPr>
          <a:xfrm>
            <a:off x="7524042" y="1611659"/>
            <a:ext cx="674182" cy="6570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5B2215-9B5F-4A63-8AB4-256F411822A2}"/>
              </a:ext>
            </a:extLst>
          </p:cNvPr>
          <p:cNvSpPr/>
          <p:nvPr/>
        </p:nvSpPr>
        <p:spPr>
          <a:xfrm>
            <a:off x="7652634" y="4286257"/>
            <a:ext cx="674182" cy="6570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B2D645-EA96-443F-B682-AD02EEF840F2}"/>
              </a:ext>
            </a:extLst>
          </p:cNvPr>
          <p:cNvSpPr/>
          <p:nvPr/>
        </p:nvSpPr>
        <p:spPr>
          <a:xfrm>
            <a:off x="7067517" y="3629232"/>
            <a:ext cx="674182" cy="6570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7AB04-B8D3-4391-93DF-2F83377FC4F0}"/>
              </a:ext>
            </a:extLst>
          </p:cNvPr>
          <p:cNvSpPr txBox="1"/>
          <p:nvPr/>
        </p:nvSpPr>
        <p:spPr>
          <a:xfrm>
            <a:off x="9255036" y="2948505"/>
            <a:ext cx="210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Competing Migrants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1DA98-0BF2-4340-B3A2-82790935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EBC91-BC60-475E-9D00-06B06297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7FC1115-1209-411B-AD9E-14ED667B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96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9BFA-1CCB-4A6B-8312-5B582C7F7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940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Does the radiation model outperform regression-based spatial interaction models?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2BDCD04-9F1D-4FA7-946B-91CAF3064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950320"/>
              </p:ext>
            </p:extLst>
          </p:nvPr>
        </p:nvGraphicFramePr>
        <p:xfrm>
          <a:off x="5638799" y="476739"/>
          <a:ext cx="5478379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99954">
                  <a:extLst>
                    <a:ext uri="{9D8B030D-6E8A-4147-A177-3AD203B41FA5}">
                      <a16:colId xmlns:a16="http://schemas.microsoft.com/office/drawing/2014/main" val="3318815257"/>
                    </a:ext>
                  </a:extLst>
                </a:gridCol>
                <a:gridCol w="752945">
                  <a:extLst>
                    <a:ext uri="{9D8B030D-6E8A-4147-A177-3AD203B41FA5}">
                      <a16:colId xmlns:a16="http://schemas.microsoft.com/office/drawing/2014/main" val="3295404847"/>
                    </a:ext>
                  </a:extLst>
                </a:gridCol>
                <a:gridCol w="1725480">
                  <a:extLst>
                    <a:ext uri="{9D8B030D-6E8A-4147-A177-3AD203B41FA5}">
                      <a16:colId xmlns:a16="http://schemas.microsoft.com/office/drawing/2014/main" val="21217935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/>
                        <a:t>Origin-based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92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Intervening Opportunities (IO)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/>
                        <a:t>S</a:t>
                      </a:r>
                      <a:r>
                        <a:rPr lang="en-US" i="1" baseline="-25000" dirty="0" err="1"/>
                        <a:t>ij</a:t>
                      </a:r>
                      <a:endParaRPr lang="en-US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(Stouffer, 1940)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 + origin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/>
                        <a:t>S</a:t>
                      </a:r>
                      <a:r>
                        <a:rPr lang="en-US" i="1" baseline="-25000" dirty="0" err="1"/>
                        <a:t>ij</a:t>
                      </a:r>
                      <a:r>
                        <a:rPr lang="en-US" i="1" dirty="0"/>
                        <a:t> + P</a:t>
                      </a:r>
                      <a:r>
                        <a:rPr lang="en-US" i="1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2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Distance-weighted 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T</a:t>
                      </a:r>
                      <a:r>
                        <a:rPr lang="en-US" i="1" baseline="-25000" dirty="0"/>
                        <a:t>ij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015712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2F7EB-AB62-4E2F-A3E3-D4A093DE5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05756"/>
            <a:ext cx="3932237" cy="3363232"/>
          </a:xfrm>
        </p:spPr>
        <p:txBody>
          <a:bodyPr/>
          <a:lstStyle/>
          <a:p>
            <a:pPr algn="ctr"/>
            <a:endParaRPr lang="en-US" b="1" u="sng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and existing variants of Stouffer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“Population only” variables consistent with Simini et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Eight combinations of origin-destination variables due to collinearity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C9250-D821-4193-A301-955359A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50FAD-BEC8-4995-AAEE-FDB62CAA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73C3-780D-42BB-A755-3A1700E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7DC6F2C-051B-4764-8151-F111E4FEE4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451155"/>
              </p:ext>
            </p:extLst>
          </p:nvPr>
        </p:nvGraphicFramePr>
        <p:xfrm>
          <a:off x="5638799" y="4427133"/>
          <a:ext cx="5462658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4424">
                  <a:extLst>
                    <a:ext uri="{9D8B030D-6E8A-4147-A177-3AD203B41FA5}">
                      <a16:colId xmlns:a16="http://schemas.microsoft.com/office/drawing/2014/main" val="3318815257"/>
                    </a:ext>
                  </a:extLst>
                </a:gridCol>
                <a:gridCol w="784543">
                  <a:extLst>
                    <a:ext uri="{9D8B030D-6E8A-4147-A177-3AD203B41FA5}">
                      <a16:colId xmlns:a16="http://schemas.microsoft.com/office/drawing/2014/main" val="3295404847"/>
                    </a:ext>
                  </a:extLst>
                </a:gridCol>
                <a:gridCol w="1793691">
                  <a:extLst>
                    <a:ext uri="{9D8B030D-6E8A-4147-A177-3AD203B41FA5}">
                      <a16:colId xmlns:a16="http://schemas.microsoft.com/office/drawing/2014/main" val="21217935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dirty="0"/>
                        <a:t>Destination-based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92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Competing Migrants (CM)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baseline="0" dirty="0" err="1"/>
                        <a:t>C</a:t>
                      </a:r>
                      <a:r>
                        <a:rPr lang="en-US" i="1" baseline="-25000" dirty="0" err="1"/>
                        <a:t>ij</a:t>
                      </a:r>
                      <a:endParaRPr lang="en-US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(Stouffer, 1960)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CM + destination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baseline="0" dirty="0" err="1"/>
                        <a:t>C</a:t>
                      </a:r>
                      <a:r>
                        <a:rPr lang="en-US" i="1" baseline="-25000" dirty="0" err="1"/>
                        <a:t>ij</a:t>
                      </a:r>
                      <a:r>
                        <a:rPr lang="en-US" i="1" dirty="0"/>
                        <a:t> + </a:t>
                      </a:r>
                      <a:r>
                        <a:rPr lang="en-US" i="1" dirty="0" err="1"/>
                        <a:t>P</a:t>
                      </a:r>
                      <a:r>
                        <a:rPr lang="en-US" i="1" baseline="-25000" dirty="0" err="1"/>
                        <a:t>j</a:t>
                      </a:r>
                      <a:endParaRPr lang="en-US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32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Distance-weighted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baseline="0" dirty="0" err="1"/>
                        <a:t>L</a:t>
                      </a:r>
                      <a:r>
                        <a:rPr lang="en-US" i="1" baseline="-25000" dirty="0" err="1"/>
                        <a:t>ij</a:t>
                      </a:r>
                      <a:endParaRPr lang="en-US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Guldmann</a:t>
                      </a:r>
                      <a:r>
                        <a:rPr lang="en-US" sz="1700" dirty="0"/>
                        <a:t>, 1999)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01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Competing Destinations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baseline="0" dirty="0" err="1"/>
                        <a:t>A</a:t>
                      </a:r>
                      <a:r>
                        <a:rPr lang="en-US" i="1" baseline="-25000" dirty="0" err="1"/>
                        <a:t>ij</a:t>
                      </a:r>
                      <a:endParaRPr lang="en-US" i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(Fotheringham, 1983)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38080"/>
                  </a:ext>
                </a:extLst>
              </a:tr>
            </a:tbl>
          </a:graphicData>
        </a:graphic>
      </p:graphicFrame>
      <p:pic>
        <p:nvPicPr>
          <p:cNvPr id="12" name="Picture 11" descr="Diagram, schematic&#10;&#10;Description automatically generated">
            <a:extLst>
              <a:ext uri="{FF2B5EF4-FFF2-40B4-BE49-F238E27FC236}">
                <a16:creationId xmlns:a16="http://schemas.microsoft.com/office/drawing/2014/main" id="{1BFB46BB-3D9F-49C5-BCA9-19329049B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035" y="2353028"/>
            <a:ext cx="2596186" cy="1681175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7DBDBD7B-D777-4909-ACC9-DA9D13487F49}"/>
              </a:ext>
            </a:extLst>
          </p:cNvPr>
          <p:cNvSpPr/>
          <p:nvPr/>
        </p:nvSpPr>
        <p:spPr>
          <a:xfrm>
            <a:off x="5275002" y="4814434"/>
            <a:ext cx="363795" cy="29611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4A6A01C-FFF2-4E3F-993F-F03FBDE079F2}"/>
              </a:ext>
            </a:extLst>
          </p:cNvPr>
          <p:cNvSpPr/>
          <p:nvPr/>
        </p:nvSpPr>
        <p:spPr>
          <a:xfrm>
            <a:off x="5275000" y="899378"/>
            <a:ext cx="363795" cy="296118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B55A73-841A-4635-B282-598F3CA7D93F}"/>
              </a:ext>
            </a:extLst>
          </p:cNvPr>
          <p:cNvSpPr txBox="1"/>
          <p:nvPr/>
        </p:nvSpPr>
        <p:spPr>
          <a:xfrm>
            <a:off x="3202021" y="32992"/>
            <a:ext cx="4509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METHODS: Additional spatial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A9F8D-392E-414C-A3EC-730E979884A9}"/>
              </a:ext>
            </a:extLst>
          </p:cNvPr>
          <p:cNvSpPr txBox="1"/>
          <p:nvPr/>
        </p:nvSpPr>
        <p:spPr>
          <a:xfrm>
            <a:off x="5275000" y="1521122"/>
            <a:ext cx="363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6DCC9-85F9-4F80-B6A5-214A2A0F6EA9}"/>
              </a:ext>
            </a:extLst>
          </p:cNvPr>
          <p:cNvSpPr txBox="1"/>
          <p:nvPr/>
        </p:nvSpPr>
        <p:spPr>
          <a:xfrm>
            <a:off x="5275000" y="5083343"/>
            <a:ext cx="363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62345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9BFA-1CCB-4A6B-8312-5B582C7F7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72" y="907960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Does the radiation model outperform regression-based spatial interaction models?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2F7EB-AB62-4E2F-A3E3-D4A093DE5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3681" y="2356833"/>
            <a:ext cx="3932237" cy="3428441"/>
          </a:xfrm>
        </p:spPr>
        <p:txBody>
          <a:bodyPr/>
          <a:lstStyle/>
          <a:p>
            <a:pPr algn="ctr"/>
            <a:endParaRPr lang="en-US" b="1" u="sng" dirty="0"/>
          </a:p>
          <a:p>
            <a:endParaRPr lang="en-US" dirty="0"/>
          </a:p>
          <a:p>
            <a:r>
              <a:rPr lang="en-US" i="1" dirty="0"/>
              <a:t>Zero-inflation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Designed to handle “excess” zeros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Two-part model: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What is the probability that the value is zero? (Complimentary log-log)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Given that probability, what is the expected value? (Poisson or NB)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C9250-D821-4193-A301-955359A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50FAD-BEC8-4995-AAEE-FDB62CAA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73C3-780D-42BB-A755-3A1700E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E2238407-1FA4-4192-B918-5423A66B9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92231"/>
              </p:ext>
            </p:extLst>
          </p:nvPr>
        </p:nvGraphicFramePr>
        <p:xfrm>
          <a:off x="4559121" y="1421908"/>
          <a:ext cx="7248831" cy="354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277">
                  <a:extLst>
                    <a:ext uri="{9D8B030D-6E8A-4147-A177-3AD203B41FA5}">
                      <a16:colId xmlns:a16="http://schemas.microsoft.com/office/drawing/2014/main" val="1378781725"/>
                    </a:ext>
                  </a:extLst>
                </a:gridCol>
                <a:gridCol w="2416277">
                  <a:extLst>
                    <a:ext uri="{9D8B030D-6E8A-4147-A177-3AD203B41FA5}">
                      <a16:colId xmlns:a16="http://schemas.microsoft.com/office/drawing/2014/main" val="2136619365"/>
                    </a:ext>
                  </a:extLst>
                </a:gridCol>
                <a:gridCol w="2416277">
                  <a:extLst>
                    <a:ext uri="{9D8B030D-6E8A-4147-A177-3AD203B41FA5}">
                      <a16:colId xmlns:a16="http://schemas.microsoft.com/office/drawing/2014/main" val="3974175110"/>
                    </a:ext>
                  </a:extLst>
                </a:gridCol>
              </a:tblGrid>
              <a:tr h="7092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Estimation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4567"/>
                  </a:ext>
                </a:extLst>
              </a:tr>
              <a:tr h="709266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Ordinary Least Squares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Least squared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Simini et al (2012)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696450"/>
                  </a:ext>
                </a:extLst>
              </a:tr>
              <a:tr h="709266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Poisson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Maximum 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Silva and </a:t>
                      </a:r>
                      <a:r>
                        <a:rPr lang="en-US" sz="1600" dirty="0" err="1"/>
                        <a:t>Tenreyro</a:t>
                      </a:r>
                      <a:r>
                        <a:rPr lang="en-US" sz="1600" dirty="0"/>
                        <a:t> (2006)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895176"/>
                  </a:ext>
                </a:extLst>
              </a:tr>
              <a:tr h="709266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Zero-inflated Poisson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Maximum 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593963"/>
                  </a:ext>
                </a:extLst>
              </a:tr>
              <a:tr h="709266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Zero-inflated Negative binomial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Maximum 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4665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1610A73-C082-42A2-A8F7-D032B3242D76}"/>
              </a:ext>
            </a:extLst>
          </p:cNvPr>
          <p:cNvSpPr txBox="1"/>
          <p:nvPr/>
        </p:nvSpPr>
        <p:spPr>
          <a:xfrm>
            <a:off x="2622461" y="136525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METHODS: Regression models</a:t>
            </a:r>
          </a:p>
        </p:txBody>
      </p:sp>
    </p:spTree>
    <p:extLst>
      <p:ext uri="{BB962C8B-B14F-4D97-AF65-F5344CB8AC3E}">
        <p14:creationId xmlns:p14="http://schemas.microsoft.com/office/powerpoint/2010/main" val="2737778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9BFA-1CCB-4A6B-8312-5B582C7F7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Does the radiation model outperform regression-based spatial interaction models?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2F7EB-AB62-4E2F-A3E3-D4A093DE5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5200" cy="4351338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dirty="0"/>
              <a:t>96 models</a:t>
            </a:r>
          </a:p>
          <a:p>
            <a:pPr lvl="1"/>
            <a:r>
              <a:rPr lang="en-US" dirty="0"/>
              <a:t>Data sources (3)</a:t>
            </a:r>
          </a:p>
          <a:p>
            <a:pPr lvl="1"/>
            <a:r>
              <a:rPr lang="en-US" dirty="0"/>
              <a:t>Model types (4)</a:t>
            </a:r>
          </a:p>
          <a:p>
            <a:pPr lvl="1"/>
            <a:r>
              <a:rPr lang="en-US" dirty="0"/>
              <a:t>Spatial variables combinations (8)</a:t>
            </a:r>
          </a:p>
          <a:p>
            <a:pPr lvl="1"/>
            <a:endParaRPr lang="en-US" dirty="0"/>
          </a:p>
          <a:p>
            <a:r>
              <a:rPr lang="en-US" dirty="0"/>
              <a:t>Divide data into training and test components (80/20)</a:t>
            </a:r>
          </a:p>
          <a:p>
            <a:endParaRPr lang="en-US" dirty="0"/>
          </a:p>
          <a:p>
            <a:r>
              <a:rPr lang="en-US" dirty="0"/>
              <a:t>When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dirty="0"/>
              <a:t> &gt; 0: Mean absolute percentage error (MAPE)</a:t>
            </a:r>
          </a:p>
          <a:p>
            <a:r>
              <a:rPr lang="en-US" dirty="0"/>
              <a:t>When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dirty="0"/>
              <a:t> = 0: Mean error (ME)</a:t>
            </a:r>
          </a:p>
          <a:p>
            <a:pPr lvl="1"/>
            <a:r>
              <a:rPr lang="en-US" dirty="0"/>
              <a:t>MAPE is undefined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C9250-D821-4193-A301-955359A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50FAD-BEC8-4995-AAEE-FDB62CAA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73C3-780D-42BB-A755-3A1700E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7">
                <a:extLst>
                  <a:ext uri="{FF2B5EF4-FFF2-40B4-BE49-F238E27FC236}">
                    <a16:creationId xmlns:a16="http://schemas.microsoft.com/office/drawing/2014/main" id="{0CE8BD72-7A3E-4365-B50D-A12A073B5E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5748" y="3543552"/>
                <a:ext cx="3593432" cy="157588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800" i="1" dirty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𝑀𝐴𝑃𝐸</m:t>
                      </m:r>
                      <m:r>
                        <a:rPr lang="en-US" sz="1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8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num>
                        <m:den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×100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 Placeholder 7">
                <a:extLst>
                  <a:ext uri="{FF2B5EF4-FFF2-40B4-BE49-F238E27FC236}">
                    <a16:creationId xmlns:a16="http://schemas.microsoft.com/office/drawing/2014/main" id="{0CE8BD72-7A3E-4365-B50D-A12A073B5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748" y="3543552"/>
                <a:ext cx="3593432" cy="1575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D52AA5-16BA-44E0-84D8-69A012B6A375}"/>
                  </a:ext>
                </a:extLst>
              </p:cNvPr>
              <p:cNvSpPr txBox="1"/>
              <p:nvPr/>
            </p:nvSpPr>
            <p:spPr>
              <a:xfrm>
                <a:off x="8873791" y="5468886"/>
                <a:ext cx="2333123" cy="66434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𝑀𝐸</m:t>
                      </m:r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D52AA5-16BA-44E0-84D8-69A012B6A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791" y="5468886"/>
                <a:ext cx="2333123" cy="664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5FAFBA2-D5E1-42B2-B524-F77F6E84F242}"/>
              </a:ext>
            </a:extLst>
          </p:cNvPr>
          <p:cNvSpPr txBox="1"/>
          <p:nvPr/>
        </p:nvSpPr>
        <p:spPr>
          <a:xfrm>
            <a:off x="2661098" y="200148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u="sng" dirty="0"/>
              <a:t>METHODS: Accuracy</a:t>
            </a:r>
          </a:p>
        </p:txBody>
      </p:sp>
    </p:spTree>
    <p:extLst>
      <p:ext uri="{BB962C8B-B14F-4D97-AF65-F5344CB8AC3E}">
        <p14:creationId xmlns:p14="http://schemas.microsoft.com/office/powerpoint/2010/main" val="2991221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9BFA-1CCB-4A6B-8312-5B582C7F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Does the radiation model outperform regression-based spatial interaction models?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2F7EB-AB62-4E2F-A3E3-D4A093DE5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20657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pPr lvl="1"/>
            <a:r>
              <a:rPr lang="en-US" dirty="0"/>
              <a:t>The combination of </a:t>
            </a:r>
            <a:r>
              <a:rPr lang="en-US" i="1" dirty="0"/>
              <a:t>T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(</a:t>
            </a:r>
            <a:r>
              <a:rPr lang="en-US" i="1" dirty="0" err="1"/>
              <a:t>C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) </a:t>
            </a:r>
            <a:r>
              <a:rPr lang="en-US" dirty="0"/>
              <a:t>was the best overall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C9250-D821-4193-A301-955359A4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50FAD-BEC8-4995-AAEE-FDB62CAA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73C3-780D-42BB-A755-3A1700E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AC4F2-D89B-4862-B4DF-272B91564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5" y="3546282"/>
            <a:ext cx="9322533" cy="2330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3E3DC3-82B8-4AC8-A7F5-D0D3DAD9991F}"/>
              </a:ext>
            </a:extLst>
          </p:cNvPr>
          <p:cNvSpPr txBox="1"/>
          <p:nvPr/>
        </p:nvSpPr>
        <p:spPr>
          <a:xfrm>
            <a:off x="1401515" y="5876344"/>
            <a:ext cx="8508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120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8. Mean absolute percent error (MAPE) of all models by data source when M &gt; 0 (ACS and Census) and M ≥ 20 (IRS). Looking across other variable combinations (gray dots), models, and accuracy metrics, </a:t>
            </a:r>
            <a:r>
              <a:rPr lang="en-US" sz="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800" b="1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</a:t>
            </a:r>
            <a:r>
              <a:rPr lang="en-US" sz="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(</a:t>
            </a:r>
            <a:r>
              <a:rPr lang="en-US" sz="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800" b="1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</a:t>
            </a:r>
            <a:r>
              <a:rPr lang="en-US" sz="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8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800" b="1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performed well most consistently. </a:t>
            </a:r>
          </a:p>
        </p:txBody>
      </p:sp>
    </p:spTree>
    <p:extLst>
      <p:ext uri="{BB962C8B-B14F-4D97-AF65-F5344CB8AC3E}">
        <p14:creationId xmlns:p14="http://schemas.microsoft.com/office/powerpoint/2010/main" val="3511461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2826B6-2C4C-4109-85C8-C882FC3A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#1: Conclusions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F0B199-FD43-49C8-B034-65DE6DA1D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radiation model does not out-perform regression models</a:t>
            </a:r>
          </a:p>
          <a:p>
            <a:r>
              <a:rPr lang="en-US" dirty="0"/>
              <a:t>Final alternate model selection: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i="1" dirty="0"/>
              <a:t>T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and (</a:t>
            </a:r>
            <a:r>
              <a:rPr lang="en-US" i="1" dirty="0" err="1"/>
              <a:t>C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) </a:t>
            </a:r>
            <a:r>
              <a:rPr lang="en-US" dirty="0"/>
              <a:t>deterrence variables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Zero-inflated negative binomial</a:t>
            </a:r>
          </a:p>
          <a:p>
            <a:pPr lvl="2"/>
            <a:r>
              <a:rPr lang="en-US" dirty="0"/>
              <a:t>Exclude OLS, this is best remaining MAPE</a:t>
            </a:r>
          </a:p>
          <a:p>
            <a:pPr lvl="2"/>
            <a:r>
              <a:rPr lang="en-US" dirty="0"/>
              <a:t>Excellent when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= 0 (like the other MLE methods)</a:t>
            </a:r>
          </a:p>
          <a:p>
            <a:r>
              <a:rPr lang="en-US" dirty="0"/>
              <a:t>1990 Census</a:t>
            </a:r>
          </a:p>
          <a:p>
            <a:pPr lvl="1"/>
            <a:r>
              <a:rPr lang="en-US" dirty="0"/>
              <a:t>Race/age crosstabs are needed for next research question</a:t>
            </a:r>
          </a:p>
          <a:p>
            <a:pPr lvl="1"/>
            <a:r>
              <a:rPr lang="en-US" dirty="0"/>
              <a:t>IRS lacks any demographic information</a:t>
            </a:r>
          </a:p>
          <a:p>
            <a:pPr lvl="1"/>
            <a:r>
              <a:rPr lang="en-US" dirty="0"/>
              <a:t>Census models outperformed ACS models in most cases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5BD3-FFCF-4194-B4AC-E90C659B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3FB4C-466A-4D6C-B93A-DE8C12F8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E3EDF-8502-437B-917A-9B273A10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0CC9EA-C044-466C-B53F-659BB17C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#2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80DAB2-F639-42B9-BEA5-F63427C13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Does incorporating the homophily principle improve migration modeling?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985C3-848A-4AB2-9BD8-A19D20D2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C2601-2B32-48D5-84DB-7B59D00B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16039-CCC8-48AF-B843-21BB22A5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97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9DB1-835F-410B-8FD8-42F0CD4E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Migration and the Homophily Principle</a:t>
            </a:r>
            <a:br>
              <a:rPr lang="en-US" b="1" dirty="0"/>
            </a:br>
            <a:r>
              <a:rPr lang="en-US" sz="2700" i="1" dirty="0"/>
              <a:t>“Similarity breeds connection”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8895DC-27BE-4930-B9A3-0EC2FBAA8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Members of our social network tend to be like us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Race and ethnicity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Religion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Education</a:t>
            </a:r>
          </a:p>
          <a:p>
            <a:r>
              <a:rPr lang="en-US" dirty="0"/>
              <a:t>Friends and family give information about receiving areas </a:t>
            </a:r>
            <a:r>
              <a:rPr lang="en-US" sz="1800" dirty="0"/>
              <a:t>(Ritchey, 1976)</a:t>
            </a:r>
          </a:p>
          <a:p>
            <a:r>
              <a:rPr lang="en-US" dirty="0"/>
              <a:t>People find jobs through personal referrals </a:t>
            </a:r>
            <a:r>
              <a:rPr lang="en-US" sz="1800" dirty="0"/>
              <a:t>(Montgomery, 1991)</a:t>
            </a:r>
          </a:p>
          <a:p>
            <a:r>
              <a:rPr lang="en-US" dirty="0"/>
              <a:t>Individual/local social capital influences migration decisions </a:t>
            </a:r>
            <a:r>
              <a:rPr lang="en-US" sz="1800" dirty="0"/>
              <a:t>(Hotchkiss &amp; </a:t>
            </a:r>
            <a:r>
              <a:rPr lang="en-US" sz="1800" dirty="0" err="1"/>
              <a:t>Rupasingha</a:t>
            </a:r>
            <a:r>
              <a:rPr lang="en-US" sz="1800" dirty="0"/>
              <a:t>, 2020; Kan, 2007)</a:t>
            </a:r>
            <a:endParaRPr lang="en-US" dirty="0"/>
          </a:p>
          <a:p>
            <a:r>
              <a:rPr lang="en-US" dirty="0"/>
              <a:t>Examples of homophily in domestic migration:</a:t>
            </a:r>
          </a:p>
          <a:p>
            <a:pPr lvl="1"/>
            <a:r>
              <a:rPr lang="en-US" dirty="0"/>
              <a:t>Black\African-American </a:t>
            </a:r>
            <a:r>
              <a:rPr lang="en-US" sz="1800" dirty="0"/>
              <a:t>(McHugh, 1988; </a:t>
            </a:r>
            <a:r>
              <a:rPr lang="en-US" sz="1800" dirty="0" err="1"/>
              <a:t>Cebula</a:t>
            </a:r>
            <a:r>
              <a:rPr lang="en-US" sz="1800" dirty="0"/>
              <a:t>, 1973; Pack, 1973)</a:t>
            </a:r>
          </a:p>
          <a:p>
            <a:pPr lvl="1"/>
            <a:r>
              <a:rPr lang="en-US" dirty="0"/>
              <a:t>Hispanic, Black\African-American, Asian </a:t>
            </a:r>
            <a:r>
              <a:rPr lang="en-US" sz="1800" dirty="0"/>
              <a:t>(Frey and </a:t>
            </a:r>
            <a:r>
              <a:rPr lang="en-US" sz="1800" dirty="0" err="1"/>
              <a:t>Liaw</a:t>
            </a:r>
            <a:r>
              <a:rPr lang="en-US" sz="1800" dirty="0"/>
              <a:t>, 2005)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6DDC6-68EC-4B95-B7EE-A3187938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EB0B4-57AF-420D-B137-6F1F865E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1368-E782-4E05-B9DB-40063A20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43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F6D6-E5D4-49D9-91F0-6B1CBCDF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sz="3600" dirty="0"/>
              <a:t>“</a:t>
            </a:r>
            <a:r>
              <a:rPr lang="en-US" sz="3600" b="1" dirty="0"/>
              <a:t>The Dominance of Economic Explanations for Migration</a:t>
            </a:r>
            <a:r>
              <a:rPr lang="en-US" sz="3600" dirty="0"/>
              <a:t>”</a:t>
            </a:r>
            <a:br>
              <a:rPr lang="en-US" dirty="0"/>
            </a:br>
            <a:r>
              <a:rPr lang="en-US" sz="2200" i="1" dirty="0"/>
              <a:t>Spring et al. 2016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43F529-FC45-474D-8589-EBA5FA8E0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abundance of quantitative measures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Consensus about how individuals and households respond to economic factors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Immigration issues of the 1980s and 1990s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Major migration events (e.g., the Great Migration) in response to macro-level economic imbalances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07D7D-FA91-4232-B6A0-3DEA2279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6E647-88DB-4DE2-8993-EF53BB9B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9D74-761A-4EB5-9D70-4793952C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47C06B6D-3883-4196-9E44-34E998B12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445" y="762429"/>
            <a:ext cx="4723738" cy="488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91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E7FBE54-EEC9-4685-9383-D3B8678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Homophily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D20092-1AD3-4448-8E7F-D9EBB9CFF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Partitioning migration flows by race improves all models when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&gt;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54BB6-4104-486E-8640-4C07045F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A9D6B-B4D9-4092-AC5A-48FFCA8A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8FCAE-53DD-49D1-BC7B-C6524DC0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783DC6-A072-494F-AB3B-D02537E2F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2581" y="859023"/>
            <a:ext cx="6362057" cy="491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91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E7FBE54-EEC9-4685-9383-D3B8678BC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Homophily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D20092-1AD3-4448-8E7F-D9EBB9CFF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performance stays generally the same (i.e., very good) when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OLS model does </a:t>
            </a:r>
            <a:r>
              <a:rPr lang="en-US" i="1" dirty="0"/>
              <a:t>worse</a:t>
            </a:r>
            <a:r>
              <a:rPr lang="en-US" dirty="0"/>
              <a:t>, likely due to even more zeros in the training and testing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54BB6-4104-486E-8640-4C07045F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A9D6B-B4D9-4092-AC5A-48FFCA8A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8FCAE-53DD-49D1-BC7B-C6524DC0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783DC6-A072-494F-AB3B-D02537E2F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2581" y="859023"/>
            <a:ext cx="6362056" cy="491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48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E7FBE54-EEC9-4685-9383-D3B8678B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74" y="365125"/>
            <a:ext cx="11257722" cy="1325563"/>
          </a:xfrm>
        </p:spPr>
        <p:txBody>
          <a:bodyPr/>
          <a:lstStyle/>
          <a:p>
            <a:r>
              <a:rPr lang="en-US" b="1" dirty="0"/>
              <a:t>Age Homophily, Urban Amenities, Labor Markets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D20092-1AD3-4448-8E7F-D9EBB9CFF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homophily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Destination population (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) </a:t>
            </a:r>
            <a:r>
              <a:rPr lang="en-US" dirty="0"/>
              <a:t>is an aggregate value, weighted by age group-to-age group correlation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Urban amenities: Census Bureau Metropolitan Statistical Areas (MSA)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Dummy variable (urban, not-urban)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Well known urban preference (or not) for certain age groups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Urban preference for certain race groups (e.g., Black/African American)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Labor market effects: BEA Economic Areas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Dummy variable (intra- or inter-labor market)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Differentiates “adjustment moves”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Also adds an additional continuous variable (</a:t>
            </a:r>
            <a:r>
              <a:rPr lang="en-US" i="1" dirty="0" err="1"/>
              <a:t>Pj</a:t>
            </a:r>
            <a:r>
              <a:rPr lang="en-US" i="1" baseline="30000" dirty="0"/>
              <a:t>*</a:t>
            </a:r>
            <a:r>
              <a:rPr lang="en-US" i="1" dirty="0"/>
              <a:t>) </a:t>
            </a:r>
            <a:r>
              <a:rPr lang="en-US" dirty="0"/>
              <a:t>defined as </a:t>
            </a:r>
            <a:r>
              <a:rPr lang="el-GR" dirty="0"/>
              <a:t>Σ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baseline="-25000" dirty="0"/>
              <a:t> </a:t>
            </a:r>
            <a:r>
              <a:rPr lang="en-US" dirty="0"/>
              <a:t>which captures social network opportunities elsewhere in the labor market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54BB6-4104-486E-8640-4C07045F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A9D6B-B4D9-4092-AC5A-48FFCA8A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8FCAE-53DD-49D1-BC7B-C6524DC0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34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05DE9538-5DA3-4009-A962-F5CF03F89242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765956474"/>
                  </p:ext>
                </p:extLst>
              </p:nvPr>
            </p:nvGraphicFramePr>
            <p:xfrm>
              <a:off x="4725239" y="2518695"/>
              <a:ext cx="6628561" cy="2581338"/>
            </p:xfrm>
            <a:graphic>
              <a:graphicData uri="http://schemas.openxmlformats.org/drawingml/2006/table">
                <a:tbl>
                  <a:tblPr firstRow="1" firstCol="1" bandRow="1">
                    <a:tableStyleId>{7E9639D4-E3E2-4D34-9284-5A2195B3D0D7}</a:tableStyleId>
                  </a:tblPr>
                  <a:tblGrid>
                    <a:gridCol w="4642834">
                      <a:extLst>
                        <a:ext uri="{9D8B030D-6E8A-4147-A177-3AD203B41FA5}">
                          <a16:colId xmlns:a16="http://schemas.microsoft.com/office/drawing/2014/main" val="68134617"/>
                        </a:ext>
                      </a:extLst>
                    </a:gridCol>
                    <a:gridCol w="1985727">
                      <a:extLst>
                        <a:ext uri="{9D8B030D-6E8A-4147-A177-3AD203B41FA5}">
                          <a16:colId xmlns:a16="http://schemas.microsoft.com/office/drawing/2014/main" val="2812530200"/>
                        </a:ext>
                      </a:extLst>
                    </a:gridCol>
                  </a:tblGrid>
                  <a:tr h="8738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Equation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Mean absolute percentage error (MAPE)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540962263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</m:s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83.8</a:t>
                          </a:r>
                          <a:r>
                            <a:rPr lang="en-US" sz="1600" baseline="30000" dirty="0">
                              <a:effectLst/>
                            </a:rPr>
                            <a:t>*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5564724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98.5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0338488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𝑳𝑴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97.65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1803907195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𝑳𝑴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𝑼𝑹𝑩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97.08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2710917201"/>
                      </a:ext>
                    </a:extLst>
                  </a:tr>
                  <a:tr h="348533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𝒊𝒋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𝒋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𝑳𝑴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𝑼𝑹𝑩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Sup>
                                  <m:sSubSup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  <m:sup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96.9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34144456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05DE9538-5DA3-4009-A962-F5CF03F89242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765956474"/>
                  </p:ext>
                </p:extLst>
              </p:nvPr>
            </p:nvGraphicFramePr>
            <p:xfrm>
              <a:off x="4725239" y="2518695"/>
              <a:ext cx="6628561" cy="2581338"/>
            </p:xfrm>
            <a:graphic>
              <a:graphicData uri="http://schemas.openxmlformats.org/drawingml/2006/table">
                <a:tbl>
                  <a:tblPr firstRow="1" firstCol="1" bandRow="1">
                    <a:tableStyleId>{7E9639D4-E3E2-4D34-9284-5A2195B3D0D7}</a:tableStyleId>
                  </a:tblPr>
                  <a:tblGrid>
                    <a:gridCol w="4642834">
                      <a:extLst>
                        <a:ext uri="{9D8B030D-6E8A-4147-A177-3AD203B41FA5}">
                          <a16:colId xmlns:a16="http://schemas.microsoft.com/office/drawing/2014/main" val="68134617"/>
                        </a:ext>
                      </a:extLst>
                    </a:gridCol>
                    <a:gridCol w="1985727">
                      <a:extLst>
                        <a:ext uri="{9D8B030D-6E8A-4147-A177-3AD203B41FA5}">
                          <a16:colId xmlns:a16="http://schemas.microsoft.com/office/drawing/2014/main" val="2812530200"/>
                        </a:ext>
                      </a:extLst>
                    </a:gridCol>
                  </a:tblGrid>
                  <a:tr h="8738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Equation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Mean absolute percentage error (MAPE)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540962263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119" marR="63119" marT="0" marB="0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1" t="-278182" r="-43307" b="-4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83.8</a:t>
                          </a:r>
                          <a:r>
                            <a:rPr lang="en-US" sz="1600" baseline="30000" dirty="0">
                              <a:effectLst/>
                            </a:rPr>
                            <a:t>*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5564724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119" marR="63119" marT="0" marB="0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31" t="-371429" r="-43307" b="-323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98.5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00338488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119" marR="63119" marT="0" marB="0">
                        <a:blipFill>
                          <a:blip r:embed="rId2"/>
                          <a:stretch>
                            <a:fillRect l="-131" t="-471429" r="-43307" b="-223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97.65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1803907195"/>
                      </a:ext>
                    </a:extLst>
                  </a:tr>
                  <a:tr h="3397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119" marR="63119" marT="0" marB="0">
                        <a:blipFill>
                          <a:blip r:embed="rId2"/>
                          <a:stretch>
                            <a:fillRect l="-131" t="-571429" r="-43307" b="-1232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97.08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2710917201"/>
                      </a:ext>
                    </a:extLst>
                  </a:tr>
                  <a:tr h="3485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119" marR="63119" marT="0" marB="0">
                        <a:blipFill>
                          <a:blip r:embed="rId2"/>
                          <a:stretch>
                            <a:fillRect l="-131" t="-659649" r="-43307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96.9</a:t>
                          </a: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119" marR="63119" marT="0" marB="0" anchor="ctr"/>
                    </a:tc>
                    <a:extLst>
                      <a:ext uri="{0D108BD9-81ED-4DB2-BD59-A6C34878D82A}">
                        <a16:rowId xmlns:a16="http://schemas.microsoft.com/office/drawing/2014/main" val="34144456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051BA649-D33E-41B3-8D03-E1F965EE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4" y="405714"/>
            <a:ext cx="11069392" cy="1325563"/>
          </a:xfrm>
        </p:spPr>
        <p:txBody>
          <a:bodyPr/>
          <a:lstStyle/>
          <a:p>
            <a:r>
              <a:rPr lang="en-US" b="1" dirty="0"/>
              <a:t>Age Homophily, Urban Amenities, Labor Markets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F4606-0822-4E72-9E12-5A32E6EA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1E5F-AEC7-42BB-9EF8-8E9E50C18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4FD5-08B8-42CF-A67E-5B2D73E4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A5C0A-AAB7-4A10-85F2-0231997161F2}"/>
              </a:ext>
            </a:extLst>
          </p:cNvPr>
          <p:cNvSpPr txBox="1"/>
          <p:nvPr/>
        </p:nvSpPr>
        <p:spPr>
          <a:xfrm>
            <a:off x="714778" y="3155324"/>
            <a:ext cx="3696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partitioning migration models by age increases the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variables nominally improve model performance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34FFA-A654-4E05-8616-6EB65708E52B}"/>
              </a:ext>
            </a:extLst>
          </p:cNvPr>
          <p:cNvSpPr txBox="1"/>
          <p:nvPr/>
        </p:nvSpPr>
        <p:spPr>
          <a:xfrm>
            <a:off x="5531475" y="5183747"/>
            <a:ext cx="5151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LM</a:t>
            </a:r>
            <a:r>
              <a:rPr lang="en-US" dirty="0"/>
              <a:t> = same labor market (dummy)</a:t>
            </a:r>
          </a:p>
          <a:p>
            <a:r>
              <a:rPr lang="en-US" i="1" dirty="0"/>
              <a:t>URB </a:t>
            </a:r>
            <a:r>
              <a:rPr lang="en-US" dirty="0"/>
              <a:t>=</a:t>
            </a:r>
            <a:r>
              <a:rPr lang="en-US" i="1" dirty="0"/>
              <a:t> </a:t>
            </a:r>
            <a:r>
              <a:rPr lang="en-US" dirty="0"/>
              <a:t>urban destination</a:t>
            </a:r>
          </a:p>
          <a:p>
            <a:r>
              <a:rPr lang="en-US" i="1" dirty="0"/>
              <a:t>P* </a:t>
            </a:r>
            <a:r>
              <a:rPr lang="en-US" dirty="0"/>
              <a:t>=</a:t>
            </a:r>
            <a:r>
              <a:rPr lang="en-US" i="1" dirty="0"/>
              <a:t> </a:t>
            </a:r>
            <a:r>
              <a:rPr lang="en-US" dirty="0"/>
              <a:t>population of destination labor market, less </a:t>
            </a:r>
            <a:r>
              <a:rPr lang="en-US" i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867194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3E0F-056D-445D-9DBC-7A23328A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#2: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0B8F4-0759-4235-A994-EF0C98092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Race homophily in migration data is supported by regression results</a:t>
            </a:r>
          </a:p>
          <a:p>
            <a:endParaRPr lang="en-US" dirty="0"/>
          </a:p>
          <a:p>
            <a:r>
              <a:rPr lang="en-US" dirty="0"/>
              <a:t>Relates a widely accepted sociological theory with migration patterns</a:t>
            </a:r>
          </a:p>
          <a:p>
            <a:endParaRPr lang="en-US" dirty="0"/>
          </a:p>
          <a:p>
            <a:r>
              <a:rPr lang="en-US" dirty="0"/>
              <a:t>Introducing age homophily degrades model performance</a:t>
            </a:r>
          </a:p>
          <a:p>
            <a:pPr lvl="1"/>
            <a:r>
              <a:rPr lang="en-US" dirty="0"/>
              <a:t>More life course variables needed (e.g., college/university, retirement)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B4B5-51D3-48E8-8317-7E0E15DA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034D-D4B2-4C2D-8B05-2C1858AC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C82BD-A214-4BAF-9A2D-7C2F0A62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61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0CC9EA-C044-466C-B53F-659BB17C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#3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80DAB2-F639-42B9-BEA5-F63427C13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When used for projections, does a demographic model that uses a best-of-breed migration model compare favorably to other population projection approaches?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985C3-848A-4AB2-9BD8-A19D20D2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C2601-2B32-48D5-84DB-7B59D00B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16039-CCC8-48AF-B843-21BB22A5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44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B14546-B94F-4F95-83A6-D02AB917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Subnational Population Projections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C775F-810B-4B6F-9690-CF33FA02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5B382-C85C-4B75-9340-30FF3441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0D17A-B34A-41D4-ABFF-1E5EF5F4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E3FD80-5800-4C41-98A4-A2E389799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571921"/>
              </p:ext>
            </p:extLst>
          </p:nvPr>
        </p:nvGraphicFramePr>
        <p:xfrm>
          <a:off x="1040731" y="2070375"/>
          <a:ext cx="9781674" cy="342074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397382">
                  <a:extLst>
                    <a:ext uri="{9D8B030D-6E8A-4147-A177-3AD203B41FA5}">
                      <a16:colId xmlns:a16="http://schemas.microsoft.com/office/drawing/2014/main" val="4250921610"/>
                    </a:ext>
                  </a:extLst>
                </a:gridCol>
                <a:gridCol w="1291676">
                  <a:extLst>
                    <a:ext uri="{9D8B030D-6E8A-4147-A177-3AD203B41FA5}">
                      <a16:colId xmlns:a16="http://schemas.microsoft.com/office/drawing/2014/main" val="966983657"/>
                    </a:ext>
                  </a:extLst>
                </a:gridCol>
                <a:gridCol w="1106906">
                  <a:extLst>
                    <a:ext uri="{9D8B030D-6E8A-4147-A177-3AD203B41FA5}">
                      <a16:colId xmlns:a16="http://schemas.microsoft.com/office/drawing/2014/main" val="2924640857"/>
                    </a:ext>
                  </a:extLst>
                </a:gridCol>
                <a:gridCol w="1588168">
                  <a:extLst>
                    <a:ext uri="{9D8B030D-6E8A-4147-A177-3AD203B41FA5}">
                      <a16:colId xmlns:a16="http://schemas.microsoft.com/office/drawing/2014/main" val="3893498083"/>
                    </a:ext>
                  </a:extLst>
                </a:gridCol>
                <a:gridCol w="1602778">
                  <a:extLst>
                    <a:ext uri="{9D8B030D-6E8A-4147-A177-3AD203B41FA5}">
                      <a16:colId xmlns:a16="http://schemas.microsoft.com/office/drawing/2014/main" val="1049246831"/>
                    </a:ext>
                  </a:extLst>
                </a:gridCol>
                <a:gridCol w="1397382">
                  <a:extLst>
                    <a:ext uri="{9D8B030D-6E8A-4147-A177-3AD203B41FA5}">
                      <a16:colId xmlns:a16="http://schemas.microsoft.com/office/drawing/2014/main" val="2849189777"/>
                    </a:ext>
                  </a:extLst>
                </a:gridCol>
                <a:gridCol w="1397382">
                  <a:extLst>
                    <a:ext uri="{9D8B030D-6E8A-4147-A177-3AD203B41FA5}">
                      <a16:colId xmlns:a16="http://schemas.microsoft.com/office/drawing/2014/main" val="3335820870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Source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Year published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# of projections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Spatial resolution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Temporal attributes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Thematic attributes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Launch year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1992467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U.S. Census Bureau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States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Semi-decadal through 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Total population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1995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9976680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</a:rPr>
                        <a:t>U.S. Census Bureau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2005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States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Annual through 2030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Age &amp; gender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2004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1541775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</a:rPr>
                        <a:t>U.S. EPA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2009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Counties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Decadal through 2100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Total population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2275474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</a:rPr>
                        <a:t>Mckee</a:t>
                      </a:r>
                      <a:r>
                        <a:rPr lang="en-US" sz="1000" b="1" dirty="0">
                          <a:effectLst/>
                        </a:rPr>
                        <a:t> et al.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2015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30 arc-second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2030 and 2050 only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Total population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2010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0243683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U.S. EPA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Counties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Decadal through 2100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Total population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466163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</a:rPr>
                        <a:t>Gao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1 km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Decadal through 2100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Urban and rural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2000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2529388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University of Virginia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States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Decadal through 2040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Age and race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2017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4941588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</a:rPr>
                        <a:t>Urban Institute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2017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States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Semi-decadal through 2040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Age and race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2657219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</a:rPr>
                        <a:t>USFS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2019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Counties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Semi-decadal through 2070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Per Capita Income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654373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</a:rPr>
                        <a:t>Hauer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2019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Counties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Semi-decadal through 2100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Age, sex, and race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</a:rPr>
                        <a:t>2010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3050501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Jiang et al.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2020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States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Decadal through 2100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Urban and rural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2010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5724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16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B8AB528-6490-234F-AA62-711C009F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population projection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45D255-1DDD-2743-A97A-1BCFBAF3F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71200" cy="44100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Components of change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Fertility and Mortality</a:t>
            </a:r>
          </a:p>
          <a:p>
            <a:pPr lvl="2"/>
            <a:r>
              <a:rPr lang="en-US" dirty="0"/>
              <a:t>CDC (county rates)</a:t>
            </a:r>
          </a:p>
          <a:p>
            <a:pPr lvl="2"/>
            <a:r>
              <a:rPr lang="en-US" dirty="0"/>
              <a:t>Wittgenstein Centre for Demography (national changes)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Immigration</a:t>
            </a:r>
          </a:p>
          <a:p>
            <a:pPr lvl="2"/>
            <a:r>
              <a:rPr lang="en-US" dirty="0"/>
              <a:t>Wittgenstein (national changes)</a:t>
            </a:r>
          </a:p>
          <a:p>
            <a:pPr lvl="2"/>
            <a:r>
              <a:rPr lang="en-US" dirty="0"/>
              <a:t>Census (race &amp; ethnicity proportions)</a:t>
            </a:r>
          </a:p>
          <a:p>
            <a:pPr lvl="2"/>
            <a:r>
              <a:rPr lang="en-US" dirty="0"/>
              <a:t>ACS (county proportions)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Migration: Zero-inflated negative binomial with bias correction</a:t>
            </a:r>
          </a:p>
          <a:p>
            <a:pPr lvl="2"/>
            <a:r>
              <a:rPr lang="en-US" dirty="0"/>
              <a:t>U.S. Census Bureau intercensal estimates</a:t>
            </a:r>
          </a:p>
          <a:p>
            <a:r>
              <a:rPr lang="en-US" dirty="0"/>
              <a:t>Assessing accuracy</a:t>
            </a:r>
          </a:p>
          <a:p>
            <a:pPr lvl="1"/>
            <a:r>
              <a:rPr lang="en-US" dirty="0"/>
              <a:t>MAPE from Smith et 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42D10-FB51-9B4D-8948-D0A0F618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3CF7A-4A3D-FA49-A176-75E5E20E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0F26-4B53-1745-A57E-AFDC1000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93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B8AB528-6490-234F-AA62-711C009F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of state-level projections for 2020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42D10-FB51-9B4D-8948-D0A0F618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3CF7A-4A3D-FA49-A176-75E5E20E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0F26-4B53-1745-A57E-AFDC1000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381264-44EA-1841-B8BC-FC1089B28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57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B8AB528-6490-234F-AA62-711C009F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of county level projections for 2020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42D10-FB51-9B4D-8948-D0A0F618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3CF7A-4A3D-FA49-A176-75E5E20E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0F26-4B53-1745-A57E-AFDC1000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29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1406FF-B631-5647-BAEA-B80816DB4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66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FF6C9-FC33-CB49-808F-35AA6B04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A0D6A-CAD4-254E-8EC8-D9585275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D1776-7271-6447-9AF7-A22584A9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 descr="Map&#10;&#10;Description automatically generated">
            <a:extLst>
              <a:ext uri="{FF2B5EF4-FFF2-40B4-BE49-F238E27FC236}">
                <a16:creationId xmlns:a16="http://schemas.microsoft.com/office/drawing/2014/main" id="{342B6A48-4125-4729-8120-16E0FA830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166" y="1234435"/>
            <a:ext cx="5852172" cy="4389129"/>
          </a:xfrm>
          <a:prstGeom prst="rect">
            <a:avLst/>
          </a:prstGeom>
        </p:spPr>
      </p:pic>
      <p:pic>
        <p:nvPicPr>
          <p:cNvPr id="8" name="Picture 7" descr="Map, scatter chart&#10;&#10;Description automatically generated">
            <a:extLst>
              <a:ext uri="{FF2B5EF4-FFF2-40B4-BE49-F238E27FC236}">
                <a16:creationId xmlns:a16="http://schemas.microsoft.com/office/drawing/2014/main" id="{189BA7AD-999B-4B0D-ACAC-EAC0ACDAF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43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3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5FBA1-A8C1-0647-9183-5EED85DB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CD656-0207-0E4F-AF7D-5F981D38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86ED6-201B-FC4E-A502-B7EF9F34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DC7AB3C3-654D-4030-976C-D922208FF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72" y="2348715"/>
            <a:ext cx="4331236" cy="32484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8BCC70-0E3C-4D7A-B04F-1BFFA252F594}"/>
              </a:ext>
            </a:extLst>
          </p:cNvPr>
          <p:cNvSpPr txBox="1"/>
          <p:nvPr/>
        </p:nvSpPr>
        <p:spPr>
          <a:xfrm>
            <a:off x="2113723" y="238539"/>
            <a:ext cx="70965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Miami-Dade County, FL</a:t>
            </a:r>
          </a:p>
          <a:p>
            <a:pPr algn="ctr"/>
            <a:r>
              <a:rPr lang="en-US" sz="3200" dirty="0"/>
              <a:t>2020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1048F2-94B1-4B5C-B84C-AD7490142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0255" y="2348716"/>
            <a:ext cx="4331236" cy="3248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C59A21-84A4-4040-8AE3-89D1A6C713D6}"/>
              </a:ext>
            </a:extLst>
          </p:cNvPr>
          <p:cNvSpPr txBox="1"/>
          <p:nvPr/>
        </p:nvSpPr>
        <p:spPr>
          <a:xfrm>
            <a:off x="2274194" y="1864438"/>
            <a:ext cx="15471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Morefield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B2399-52A2-43B7-9F8D-FE8D4A1CDF53}"/>
              </a:ext>
            </a:extLst>
          </p:cNvPr>
          <p:cNvSpPr txBox="1"/>
          <p:nvPr/>
        </p:nvSpPr>
        <p:spPr>
          <a:xfrm>
            <a:off x="8318679" y="1864438"/>
            <a:ext cx="15471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Hauer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3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B8AB528-6490-234F-AA62-711C009F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#3: Conclusions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45D255-1DDD-2743-A97A-1BCFBAF3F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new population projection competitive at state and county</a:t>
            </a:r>
          </a:p>
          <a:p>
            <a:pPr lvl="1"/>
            <a:r>
              <a:rPr lang="en-US" dirty="0"/>
              <a:t>Relatively simple</a:t>
            </a:r>
          </a:p>
          <a:p>
            <a:pPr lvl="1"/>
            <a:r>
              <a:rPr lang="en-US" dirty="0"/>
              <a:t>Public data</a:t>
            </a:r>
          </a:p>
          <a:p>
            <a:pPr lvl="1"/>
            <a:r>
              <a:rPr lang="en-US" dirty="0"/>
              <a:t>Novel migration approach with a theoretical basis</a:t>
            </a:r>
          </a:p>
          <a:p>
            <a:pPr lvl="1"/>
            <a:r>
              <a:rPr lang="en-US" dirty="0"/>
              <a:t>Interchangeable components for scenario exploration</a:t>
            </a:r>
          </a:p>
          <a:p>
            <a:r>
              <a:rPr lang="en-US" dirty="0"/>
              <a:t>Update to “typical” errors suggested by Smith et al</a:t>
            </a:r>
          </a:p>
          <a:p>
            <a:pPr lvl="1"/>
            <a:r>
              <a:rPr lang="en-US" dirty="0"/>
              <a:t>State </a:t>
            </a:r>
            <a:r>
              <a:rPr lang="en-US" dirty="0">
                <a:sym typeface="Wingdings" panose="05000000000000000000" pitchFamily="2" charset="2"/>
              </a:rPr>
              <a:t> county doubles errors</a:t>
            </a:r>
          </a:p>
          <a:p>
            <a:r>
              <a:rPr lang="en-US" dirty="0">
                <a:sym typeface="Wingdings" panose="05000000000000000000" pitchFamily="2" charset="2"/>
              </a:rPr>
              <a:t>National-level accuracy is one criteria for model selection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Accuracy is scale dependent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Demographic attributes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Spatial resolution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42D10-FB51-9B4D-8948-D0A0F618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3CF7A-4A3D-FA49-A176-75E5E20E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0F26-4B53-1745-A57E-AFDC1000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55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379B8-C6AF-3549-81B3-93476DBA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this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FDC0-15B0-874C-801D-57E0F08F4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an exhaustive analysis of the homophily principle and migration</a:t>
            </a:r>
          </a:p>
          <a:p>
            <a:endParaRPr lang="en-US" dirty="0"/>
          </a:p>
          <a:p>
            <a:r>
              <a:rPr lang="en-US" dirty="0"/>
              <a:t>1990 Census and credibility</a:t>
            </a:r>
          </a:p>
          <a:p>
            <a:endParaRPr lang="en-US" dirty="0"/>
          </a:p>
          <a:p>
            <a:r>
              <a:rPr lang="en-US" dirty="0"/>
              <a:t>Migration is a complex phenomenon; MAPE values ~80%</a:t>
            </a:r>
          </a:p>
          <a:p>
            <a:pPr lvl="1"/>
            <a:r>
              <a:rPr lang="en-US" dirty="0"/>
              <a:t>Economic drivers</a:t>
            </a:r>
          </a:p>
          <a:p>
            <a:pPr lvl="1"/>
            <a:r>
              <a:rPr lang="en-US" dirty="0"/>
              <a:t>Other (dis)amenities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CE259-FD36-E840-A456-A3D6457A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441A5-DCD4-D548-9FEE-C012F10F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374F-63C9-7D44-911A-0B7B181A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52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651E-AC07-49AB-B24D-C7FC4151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research &amp; next steps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C4DF-C700-40C8-97A4-3F6235B29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Replace 1990 Census data</a:t>
            </a:r>
          </a:p>
          <a:p>
            <a:pPr lvl="1"/>
            <a:r>
              <a:rPr lang="en-US" dirty="0"/>
              <a:t>Synthesize ACS migration data</a:t>
            </a:r>
          </a:p>
          <a:p>
            <a:pPr lvl="1"/>
            <a:r>
              <a:rPr lang="en-US" dirty="0"/>
              <a:t>Access raw ACS data at data centers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Incorporate 2017 Census Population Projection</a:t>
            </a:r>
          </a:p>
          <a:p>
            <a:pPr lvl="1"/>
            <a:r>
              <a:rPr lang="en-US" dirty="0"/>
              <a:t>New immigration scenarios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dummy variable for colleges &amp; universities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retirement amenities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Adjust at-risk migration population (</a:t>
            </a:r>
            <a:r>
              <a:rPr lang="en-US" i="1" dirty="0"/>
              <a:t>P</a:t>
            </a:r>
            <a:r>
              <a:rPr lang="en-US" i="1" baseline="-25000" dirty="0"/>
              <a:t>i</a:t>
            </a:r>
            <a:r>
              <a:rPr lang="en-US" dirty="0"/>
              <a:t>) for group quarters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BFB18-24B0-4467-921E-2D533933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C1B2F-AB98-40CB-8336-459F4DEAB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9982-E4FB-4540-8F8A-CBDF9480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42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09135C-7073-A14D-9105-6958272708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1352-DCD0-F942-A0C1-665008CA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36D38-82DB-C94E-A5A8-3D2F05C6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13EB5-C556-F341-A468-B9E2930D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1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4DBD-D3FF-47A3-B850-34DC725C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publications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8E1B2-C24E-4A57-928E-29447607D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Significance of/differences between data sources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Demonstrate zero-inflated regression and homophily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Population projection accuracy assessment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5CAD-091B-4B87-AF2C-0AB59585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C80C-45DE-4D22-B7AC-279B5963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4A40-6C3E-411E-9B00-CE920B96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3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A903953-D1F9-4774-9E58-F537C575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</p:spPr>
        <p:txBody>
          <a:bodyPr>
            <a:normAutofit/>
          </a:bodyPr>
          <a:lstStyle/>
          <a:p>
            <a:r>
              <a:rPr lang="en-US" b="1" dirty="0"/>
              <a:t>Race homophily in migration data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30ACA6-DC51-4F43-84D6-B58EC5933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9765" y="1825625"/>
            <a:ext cx="5350035" cy="4351338"/>
          </a:xfrm>
        </p:spPr>
        <p:txBody>
          <a:bodyPr/>
          <a:lstStyle/>
          <a:p>
            <a:r>
              <a:rPr lang="en-US" dirty="0"/>
              <a:t>Correlations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Incoming migrants of a given race</a:t>
            </a:r>
          </a:p>
          <a:p>
            <a:pPr lvl="2"/>
            <a:r>
              <a:rPr lang="en-US" i="1" dirty="0" err="1"/>
              <a:t>M</a:t>
            </a:r>
            <a:r>
              <a:rPr lang="en-US" i="1" baseline="-25000" dirty="0" err="1"/>
              <a:t>r</a:t>
            </a:r>
            <a:endParaRPr lang="en-US" i="1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Population at the destination</a:t>
            </a:r>
          </a:p>
          <a:p>
            <a:pPr lvl="2"/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endParaRPr lang="en-US" i="1" baseline="-25000" dirty="0"/>
          </a:p>
          <a:p>
            <a:pPr lvl="2"/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baseline="-25000" dirty="0"/>
              <a:t>, r</a:t>
            </a:r>
          </a:p>
          <a:p>
            <a:pPr lvl="1"/>
            <a:endParaRPr lang="en-US" baseline="-25000" dirty="0"/>
          </a:p>
          <a:p>
            <a:pPr marL="0" indent="0">
              <a:buNone/>
            </a:pPr>
            <a:r>
              <a:rPr lang="en-US" dirty="0"/>
              <a:t>Conclusion: Partitioning migration by race should improve modeling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7B041-9729-4E4A-AA62-F434DB33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D79E4-AF75-4737-8B28-5FCAB790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Migration and population projections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5A6E-4900-4553-889B-7CED3B37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61D8F43-D188-4045-AFCD-6537CC177A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40635" y="365125"/>
              <a:ext cx="5181600" cy="5811837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491590">
                      <a:extLst>
                        <a:ext uri="{9D8B030D-6E8A-4147-A177-3AD203B41FA5}">
                          <a16:colId xmlns:a16="http://schemas.microsoft.com/office/drawing/2014/main" val="3766755546"/>
                        </a:ext>
                      </a:extLst>
                    </a:gridCol>
                    <a:gridCol w="1213324">
                      <a:extLst>
                        <a:ext uri="{9D8B030D-6E8A-4147-A177-3AD203B41FA5}">
                          <a16:colId xmlns:a16="http://schemas.microsoft.com/office/drawing/2014/main" val="2468888798"/>
                        </a:ext>
                      </a:extLst>
                    </a:gridCol>
                    <a:gridCol w="1245310">
                      <a:extLst>
                        <a:ext uri="{9D8B030D-6E8A-4147-A177-3AD203B41FA5}">
                          <a16:colId xmlns:a16="http://schemas.microsoft.com/office/drawing/2014/main" val="1611032620"/>
                        </a:ext>
                      </a:extLst>
                    </a:gridCol>
                    <a:gridCol w="1231376">
                      <a:extLst>
                        <a:ext uri="{9D8B030D-6E8A-4147-A177-3AD203B41FA5}">
                          <a16:colId xmlns:a16="http://schemas.microsoft.com/office/drawing/2014/main" val="2316168638"/>
                        </a:ext>
                      </a:extLst>
                    </a:gridCol>
                  </a:tblGrid>
                  <a:tr h="3539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Spearman correlation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en-US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sub>
                              </m:sSub>
                            </m:oMath>
                          </a14:m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2019685"/>
                      </a:ext>
                    </a:extLst>
                  </a:tr>
                  <a:tr h="44943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Migration data source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extLst>
                      <a:ext uri="{0D108BD9-81ED-4DB2-BD59-A6C34878D82A}">
                        <a16:rowId xmlns:a16="http://schemas.microsoft.com/office/drawing/2014/main" val="3043431996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909320809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1990 Census 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604673542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White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0.948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273598090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Black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0.948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0.733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040796207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Other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0.888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0.722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460430042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0.948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282806888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2000 Census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 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640959902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>
                              <a:effectLst/>
                            </a:rPr>
                            <a:t>White</a:t>
                          </a:r>
                          <a:endParaRPr lang="en-US" sz="13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0.961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0.946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2650535832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Black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0.956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0.758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0567295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AIAN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0.899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0.689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1339276244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API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0.891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0.859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7851208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0.960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1263228806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2011-2015 ACS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 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1176948404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>
                              <a:effectLst/>
                            </a:rPr>
                            <a:t>White Alone</a:t>
                          </a:r>
                          <a:endParaRPr lang="en-US" sz="13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0.939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0.929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4048543511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Black Alone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0.884 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0.769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62665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Asian Alone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0.769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0.729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813258017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Other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0.839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0.785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07302410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986947951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 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2989136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Hispanic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0.836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0.756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204741799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Not Hispanic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0.939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0.933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4184023941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3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3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65573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61D8F43-D188-4045-AFCD-6537CC177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6700707"/>
                  </p:ext>
                </p:extLst>
              </p:nvPr>
            </p:nvGraphicFramePr>
            <p:xfrm>
              <a:off x="6340635" y="365125"/>
              <a:ext cx="5181600" cy="5811837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1491590">
                      <a:extLst>
                        <a:ext uri="{9D8B030D-6E8A-4147-A177-3AD203B41FA5}">
                          <a16:colId xmlns:a16="http://schemas.microsoft.com/office/drawing/2014/main" val="3766755546"/>
                        </a:ext>
                      </a:extLst>
                    </a:gridCol>
                    <a:gridCol w="1213324">
                      <a:extLst>
                        <a:ext uri="{9D8B030D-6E8A-4147-A177-3AD203B41FA5}">
                          <a16:colId xmlns:a16="http://schemas.microsoft.com/office/drawing/2014/main" val="2468888798"/>
                        </a:ext>
                      </a:extLst>
                    </a:gridCol>
                    <a:gridCol w="1245310">
                      <a:extLst>
                        <a:ext uri="{9D8B030D-6E8A-4147-A177-3AD203B41FA5}">
                          <a16:colId xmlns:a16="http://schemas.microsoft.com/office/drawing/2014/main" val="1611032620"/>
                        </a:ext>
                      </a:extLst>
                    </a:gridCol>
                    <a:gridCol w="1231376">
                      <a:extLst>
                        <a:ext uri="{9D8B030D-6E8A-4147-A177-3AD203B41FA5}">
                          <a16:colId xmlns:a16="http://schemas.microsoft.com/office/drawing/2014/main" val="2316168638"/>
                        </a:ext>
                      </a:extLst>
                    </a:gridCol>
                  </a:tblGrid>
                  <a:tr h="3539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 anchor="ctr">
                        <a:blipFill>
                          <a:blip r:embed="rId2"/>
                          <a:stretch>
                            <a:fillRect l="-109091" t="-1724" r="-246" b="-156896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2019685"/>
                      </a:ext>
                    </a:extLst>
                  </a:tr>
                  <a:tr h="44943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Migration data source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 anchor="ctr">
                        <a:blipFill>
                          <a:blip r:embed="rId2"/>
                          <a:stretch>
                            <a:fillRect l="-123116" t="-79730" r="-205025" b="-11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 anchor="ctr">
                        <a:blipFill>
                          <a:blip r:embed="rId2"/>
                          <a:stretch>
                            <a:fillRect l="-216585" t="-79730" r="-99024" b="-11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 anchor="ctr">
                        <a:blipFill>
                          <a:blip r:embed="rId2"/>
                          <a:stretch>
                            <a:fillRect l="-321287" t="-79730" r="-495" b="-11297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3431996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909320809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1990 Census 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604673542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White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0.948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273598090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Black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0.948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0.733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040796207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Other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0.888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0.722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460430042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>
                        <a:blipFill>
                          <a:blip r:embed="rId2"/>
                          <a:stretch>
                            <a:fillRect l="-123116" t="-815385" r="-205025" b="-15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0.948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282806888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2000 Census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 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640959902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>
                              <a:effectLst/>
                            </a:rPr>
                            <a:t>White</a:t>
                          </a:r>
                          <a:endParaRPr lang="en-US" sz="13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0.961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0.946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2650535832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Black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0.956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0.758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0567295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AIAN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0.899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0.689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1339276244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API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0.891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0.859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7851208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>
                        <a:blipFill>
                          <a:blip r:embed="rId2"/>
                          <a:stretch>
                            <a:fillRect l="-123116" t="-1389744" r="-205025" b="-994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0.960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1263228806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2011-2015 ACS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 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1176948404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>
                              <a:effectLst/>
                            </a:rPr>
                            <a:t>White Alone</a:t>
                          </a:r>
                          <a:endParaRPr lang="en-US" sz="13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0.939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0.929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4048543511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Black Alone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0.884 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0.769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62665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Asian Alone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0.769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0.729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813258017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Other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0.839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0.785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07302410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>
                        <a:blipFill>
                          <a:blip r:embed="rId2"/>
                          <a:stretch>
                            <a:fillRect l="-123116" t="-1915000" r="-205025" b="-40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986947951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 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 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729891368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Hispanic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0.836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0.756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204741799"/>
                      </a:ext>
                    </a:extLst>
                  </a:tr>
                  <a:tr h="22471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300" dirty="0">
                              <a:effectLst/>
                            </a:rPr>
                            <a:t>Not Hispanic</a:t>
                          </a:r>
                          <a:endParaRPr lang="en-US" sz="13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sng" dirty="0">
                              <a:effectLst/>
                            </a:rPr>
                            <a:t>0.939</a:t>
                          </a:r>
                          <a:endParaRPr lang="en-US" sz="1400" b="1" u="sng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0.933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4184023941"/>
                      </a:ext>
                    </a:extLst>
                  </a:tr>
                  <a:tr h="24089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 </a:t>
                          </a:r>
                          <a:endParaRPr lang="en-US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000" marR="62000" marT="0" marB="0">
                        <a:blipFill>
                          <a:blip r:embed="rId2"/>
                          <a:stretch>
                            <a:fillRect l="-123116" t="-2290000" r="-205025" b="-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u="none" dirty="0">
                              <a:effectLst/>
                            </a:rPr>
                            <a:t> </a:t>
                          </a:r>
                          <a:endParaRPr lang="en-US" sz="1400" b="1" u="none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0.936</a:t>
                          </a:r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000" marR="62000" marT="0" marB="0"/>
                    </a:tc>
                    <a:extLst>
                      <a:ext uri="{0D108BD9-81ED-4DB2-BD59-A6C34878D82A}">
                        <a16:rowId xmlns:a16="http://schemas.microsoft.com/office/drawing/2014/main" val="365573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1272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96F7-4EBC-4D18-AE4D-E835A4B7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Does the radiation model outperform regression-based spatial interaction models?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3CE28-3DAF-492E-B460-1CCE5CEC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Regression models shown here use </a:t>
            </a:r>
            <a:r>
              <a:rPr lang="en-US" i="1" dirty="0"/>
              <a:t>T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and (</a:t>
            </a:r>
            <a:r>
              <a:rPr lang="en-US" i="1" dirty="0" err="1"/>
              <a:t>C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) </a:t>
            </a:r>
            <a:r>
              <a:rPr lang="en-US" dirty="0"/>
              <a:t>deterrence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MLE models are vastly superior at reproducing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=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OLS models struggle to predict zero; this is significant given the large proportion of zeros in migration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3B6F7-9319-4633-B5BE-6B0EFD9C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E8EA6-C2B2-4A92-87A8-A7BF2D0F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4EE2-83B0-4220-9A9F-0E500E8D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81874C-0872-41BD-B35E-2571C2138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8835" y="662610"/>
            <a:ext cx="6559823" cy="50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17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96F7-4EBC-4D18-AE4D-E835A4B7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Does the radiation model outperform regression-based spatial interaction models?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3CE28-3DAF-492E-B460-1CCE5CEC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MAPE values roughly double when </a:t>
            </a:r>
            <a:br>
              <a:rPr lang="en-US" dirty="0"/>
            </a:b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i="1" dirty="0"/>
              <a:t> ˂</a:t>
            </a:r>
            <a:r>
              <a:rPr lang="en-US" dirty="0"/>
              <a:t>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radiation model is on par with MLE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Methodological differences between Census and ACS likely account for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ZINB is about 12% better than ZIP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3B6F7-9319-4633-B5BE-6B0EFD9C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E8EA6-C2B2-4A92-87A8-A7BF2D0F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4EE2-83B0-4220-9A9F-0E500E8D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39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81874C-0872-41BD-B35E-2571C2138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8835" y="662610"/>
            <a:ext cx="6559823" cy="50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155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96F7-4EBC-4D18-AE4D-E835A4B7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Does the radiation model outperform regression-based spatial interaction models?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3CE28-3DAF-492E-B460-1CCE5CEC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Regression models shown here use </a:t>
            </a:r>
            <a:r>
              <a:rPr lang="en-US" i="1" dirty="0"/>
              <a:t>T</a:t>
            </a:r>
            <a:r>
              <a:rPr lang="en-US" i="1" baseline="-25000" dirty="0"/>
              <a:t>ij</a:t>
            </a:r>
            <a:r>
              <a:rPr lang="en-US" i="1" dirty="0"/>
              <a:t> </a:t>
            </a:r>
            <a:r>
              <a:rPr lang="en-US" dirty="0"/>
              <a:t>and (</a:t>
            </a:r>
            <a:r>
              <a:rPr lang="en-US" i="1" dirty="0" err="1"/>
              <a:t>C</a:t>
            </a:r>
            <a:r>
              <a:rPr lang="en-US" i="1" baseline="-25000" dirty="0" err="1"/>
              <a:t>ij</a:t>
            </a:r>
            <a:r>
              <a:rPr lang="en-US" i="1" dirty="0"/>
              <a:t> </a:t>
            </a:r>
            <a:r>
              <a:rPr lang="en-US" dirty="0"/>
              <a:t>+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dirty="0"/>
              <a:t>) </a:t>
            </a:r>
            <a:r>
              <a:rPr lang="en-US" dirty="0"/>
              <a:t>deterrence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</a:t>
            </a:r>
            <a:r>
              <a:rPr lang="en-US" i="1" dirty="0" err="1"/>
              <a:t>M</a:t>
            </a:r>
            <a:r>
              <a:rPr lang="en-US" i="1" baseline="-25000" dirty="0" err="1"/>
              <a:t>ij</a:t>
            </a:r>
            <a:r>
              <a:rPr lang="en-US" i="1" dirty="0"/>
              <a:t> ≥</a:t>
            </a:r>
            <a:r>
              <a:rPr lang="en-US" dirty="0"/>
              <a:t> 20, the radiation model is outperformed by all model/data source combinations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3B6F7-9319-4633-B5BE-6B0EFD9C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E8EA6-C2B2-4A92-87A8-A7BF2D0F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4EE2-83B0-4220-9A9F-0E500E8DF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40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81874C-0872-41BD-B35E-2571C2138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8835" y="662610"/>
            <a:ext cx="6559824" cy="50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76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69A71-E5B8-4888-8C2F-6F994CD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7E403-AB38-4DDE-AF0B-AE063850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53A72-839B-4C55-B7BE-8A1592E0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0D93D5D8-0C9C-4029-9038-C933F9960B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9541" y="480006"/>
                <a:ext cx="3958010" cy="27838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sz="23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300" b="1"/>
                        <m:t>Equation</m:t>
                      </m:r>
                      <m:r>
                        <m:rPr>
                          <m:nor/>
                        </m:rPr>
                        <a:rPr lang="en-US" sz="2300" b="1"/>
                        <m:t> 1. </m:t>
                      </m:r>
                      <m:r>
                        <m:rPr>
                          <m:nor/>
                        </m:rPr>
                        <a:rPr lang="en-US" sz="2300" b="1"/>
                        <m:t>The</m:t>
                      </m:r>
                      <m:r>
                        <m:rPr>
                          <m:nor/>
                        </m:rPr>
                        <a:rPr lang="en-US" sz="2300" b="1"/>
                        <m:t> </m:t>
                      </m:r>
                      <m:r>
                        <m:rPr>
                          <m:nor/>
                        </m:rPr>
                        <a:rPr lang="en-US" sz="2300" b="1"/>
                        <m:t>basic</m:t>
                      </m:r>
                      <m:r>
                        <m:rPr>
                          <m:nor/>
                        </m:rPr>
                        <a:rPr lang="en-US" sz="2300" b="1"/>
                        <m:t> </m:t>
                      </m:r>
                      <m:r>
                        <m:rPr>
                          <m:nor/>
                        </m:rPr>
                        <a:rPr lang="en-US" sz="2300" b="1"/>
                        <m:t>gravity</m:t>
                      </m:r>
                      <m:r>
                        <m:rPr>
                          <m:nor/>
                        </m:rPr>
                        <a:rPr lang="en-US" sz="2300" b="1"/>
                        <m:t> </m:t>
                      </m:r>
                      <m:r>
                        <m:rPr>
                          <m:nor/>
                        </m:rPr>
                        <a:rPr lang="en-US" sz="2300" b="1"/>
                        <m:t>equation</m:t>
                      </m:r>
                      <m:r>
                        <m:rPr>
                          <m:nor/>
                        </m:rPr>
                        <a:rPr lang="en-US" sz="2300" b="1"/>
                        <m:t> </m:t>
                      </m:r>
                      <m:r>
                        <m:rPr>
                          <m:nor/>
                        </m:rPr>
                        <a:rPr lang="en-US" sz="2300" b="1"/>
                        <m:t>of</m:t>
                      </m:r>
                      <m:r>
                        <m:rPr>
                          <m:nor/>
                        </m:rPr>
                        <a:rPr lang="en-US" sz="2300" b="1"/>
                        <m:t> </m:t>
                      </m:r>
                      <m:r>
                        <m:rPr>
                          <m:nor/>
                        </m:rPr>
                        <a:rPr lang="en-US" sz="2300" b="1"/>
                        <m:t>spatial</m:t>
                      </m:r>
                      <m:r>
                        <m:rPr>
                          <m:nor/>
                        </m:rPr>
                        <a:rPr lang="en-US" sz="2300" b="1"/>
                        <m:t> </m:t>
                      </m:r>
                      <m:r>
                        <m:rPr>
                          <m:nor/>
                        </m:rPr>
                        <a:rPr lang="en-US" sz="2300" b="1"/>
                        <m:t>interaction</m:t>
                      </m:r>
                      <m:r>
                        <m:rPr>
                          <m:nor/>
                        </m:rPr>
                        <a:rPr lang="en-US" sz="2300" b="1"/>
                        <m:t>.</m:t>
                      </m:r>
                    </m:oMath>
                  </m:oMathPara>
                </a14:m>
                <a:endParaRPr lang="en-US" sz="2300" b="1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dirty="0"/>
                  <a:t> = # of migrants from location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 to location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= population at the origin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= the population at the destination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is a constant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/>
                  <a:t>,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1800" dirty="0"/>
                  <a:t> are estimated from observations</a:t>
                </a: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0D93D5D8-0C9C-4029-9038-C933F9960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41" y="480006"/>
                <a:ext cx="3958010" cy="27838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C14245-9DD1-47C1-9718-B3A8BC8DFF08}"/>
                  </a:ext>
                </a:extLst>
              </p:cNvPr>
              <p:cNvSpPr txBox="1"/>
              <p:nvPr/>
            </p:nvSpPr>
            <p:spPr>
              <a:xfrm>
                <a:off x="506041" y="4013200"/>
                <a:ext cx="4491409" cy="10573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1100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1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Equation 7. The radiation model as described in Simini et al. (2012).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C14245-9DD1-47C1-9718-B3A8BC8DF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41" y="4013200"/>
                <a:ext cx="4491409" cy="1057341"/>
              </a:xfrm>
              <a:prstGeom prst="rect">
                <a:avLst/>
              </a:prstGeom>
              <a:blipFill>
                <a:blip r:embed="rId3"/>
                <a:stretch>
                  <a:fillRect b="-2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DDB4F7-F2FF-4BB0-918F-9E6237C73253}"/>
                  </a:ext>
                </a:extLst>
              </p:cNvPr>
              <p:cNvSpPr txBox="1"/>
              <p:nvPr/>
            </p:nvSpPr>
            <p:spPr>
              <a:xfrm>
                <a:off x="5607050" y="2358642"/>
                <a:ext cx="5321300" cy="10703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𝑈𝑅𝐵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𝐿𝑀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spcBef>
                    <a:spcPts val="1200"/>
                  </a:spcBef>
                  <a:spcAft>
                    <a:spcPts val="0"/>
                  </a:spcAft>
                </a:pPr>
                <a:r>
                  <a:rPr lang="en-US" sz="11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Equation 13. The homophily model of migration using 1990 Census migration data.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DDB4F7-F2FF-4BB0-918F-9E6237C73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050" y="2358642"/>
                <a:ext cx="5321300" cy="1070358"/>
              </a:xfrm>
              <a:prstGeom prst="rect">
                <a:avLst/>
              </a:prstGeom>
              <a:blipFill>
                <a:blip r:embed="rId4"/>
                <a:stretch>
                  <a:fillRect b="-28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775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F345A-5050-4959-978D-7B72225B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08E9F-2ED4-4DC3-AD91-4E6789CD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59537-1AFA-429E-9AA9-E639420E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42</a:t>
            </a:fld>
            <a:endParaRPr lang="en-US"/>
          </a:p>
        </p:txBody>
      </p:sp>
      <p:pic>
        <p:nvPicPr>
          <p:cNvPr id="9" name="Picture 8" descr="A picture containing table&#10;&#10;Description automatically generated">
            <a:extLst>
              <a:ext uri="{FF2B5EF4-FFF2-40B4-BE49-F238E27FC236}">
                <a16:creationId xmlns:a16="http://schemas.microsoft.com/office/drawing/2014/main" id="{0ECD6992-6909-4A70-89E3-7AA53F2B6D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8" r="11594"/>
          <a:stretch/>
        </p:blipFill>
        <p:spPr bwMode="auto">
          <a:xfrm>
            <a:off x="3862387" y="1163955"/>
            <a:ext cx="3768725" cy="33743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C30517-7D9F-46F3-A8DE-E22012E75DA9}"/>
              </a:ext>
            </a:extLst>
          </p:cNvPr>
          <p:cNvSpPr txBox="1"/>
          <p:nvPr/>
        </p:nvSpPr>
        <p:spPr>
          <a:xfrm>
            <a:off x="1441450" y="4830445"/>
            <a:ext cx="9436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15. Correlation (</a:t>
            </a:r>
            <a:r>
              <a:rPr lang="en-US" sz="1400" b="1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between in-migration and destination population by age group in 1990 Census migration data.</a:t>
            </a:r>
          </a:p>
        </p:txBody>
      </p:sp>
    </p:spTree>
    <p:extLst>
      <p:ext uri="{BB962C8B-B14F-4D97-AF65-F5344CB8AC3E}">
        <p14:creationId xmlns:p14="http://schemas.microsoft.com/office/powerpoint/2010/main" val="1653738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9B36D0-4EB1-4932-895C-1A84BFB9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1150" cy="1325563"/>
          </a:xfrm>
        </p:spPr>
        <p:txBody>
          <a:bodyPr/>
          <a:lstStyle/>
          <a:p>
            <a:pPr algn="ctr"/>
            <a:r>
              <a:rPr lang="en-US" dirty="0"/>
              <a:t>Mercer County, MO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821AE-A892-5845-A040-CA98FF6A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47826-714B-3A48-A19E-EEAACC2E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CF5AD-2965-7341-AF31-75CBED94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66987BEA-F44C-403F-AE61-8A6D23499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03" y="1598545"/>
            <a:ext cx="3048000" cy="228600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CB2067B6-576A-4912-BD2E-3263C534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903" y="3906010"/>
            <a:ext cx="3048000" cy="2286000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AD704D3F-3C7D-4E56-821B-80EB4C384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920" y="1620010"/>
            <a:ext cx="3048000" cy="2286000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EB7D75DE-2A58-4F78-B875-278B9CF905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920" y="3884545"/>
            <a:ext cx="3048000" cy="228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0BAE34-9C70-4B8C-A546-2ABE7E275FA7}"/>
              </a:ext>
            </a:extLst>
          </p:cNvPr>
          <p:cNvSpPr txBox="1"/>
          <p:nvPr/>
        </p:nvSpPr>
        <p:spPr>
          <a:xfrm>
            <a:off x="6686550" y="704740"/>
            <a:ext cx="293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2020 Population: 3,558</a:t>
            </a:r>
          </a:p>
          <a:p>
            <a:r>
              <a:rPr lang="en-US" dirty="0"/>
              <a:t>2020 Projected:   3,558</a:t>
            </a:r>
          </a:p>
        </p:txBody>
      </p:sp>
    </p:spTree>
    <p:extLst>
      <p:ext uri="{BB962C8B-B14F-4D97-AF65-F5344CB8AC3E}">
        <p14:creationId xmlns:p14="http://schemas.microsoft.com/office/powerpoint/2010/main" val="3434178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9B36D0-4EB1-4932-895C-1A84BFB9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1150" cy="1325563"/>
          </a:xfrm>
        </p:spPr>
        <p:txBody>
          <a:bodyPr/>
          <a:lstStyle/>
          <a:p>
            <a:pPr algn="ctr"/>
            <a:r>
              <a:rPr lang="en-US" dirty="0"/>
              <a:t>Clay County, FL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821AE-A892-5845-A040-CA98FF6A4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47826-714B-3A48-A19E-EEAACC2E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Migration and population projections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CF5AD-2965-7341-AF31-75CBED94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65BEC-B552-4C4A-B55F-3AE19CA61E4D}" type="slidenum">
              <a:rPr lang="en-US" smtClean="0"/>
              <a:t>44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987BEA-F44C-403F-AE61-8A6D23499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3903" y="1598545"/>
            <a:ext cx="304800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2067B6-576A-4912-BD2E-3263C534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3903" y="3906010"/>
            <a:ext cx="3048000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704D3F-3C7D-4E56-821B-80EB4C384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920" y="1620010"/>
            <a:ext cx="3048000" cy="228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7D75DE-2A58-4F78-B875-278B9CF905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920" y="3884545"/>
            <a:ext cx="3048000" cy="228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0BAE34-9C70-4B8C-A546-2ABE7E275FA7}"/>
              </a:ext>
            </a:extLst>
          </p:cNvPr>
          <p:cNvSpPr txBox="1"/>
          <p:nvPr/>
        </p:nvSpPr>
        <p:spPr>
          <a:xfrm>
            <a:off x="6686550" y="704740"/>
            <a:ext cx="293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2020 Population: 221,770</a:t>
            </a:r>
          </a:p>
          <a:p>
            <a:r>
              <a:rPr lang="en-US" dirty="0"/>
              <a:t>2020 Projected:   221,782</a:t>
            </a:r>
          </a:p>
        </p:txBody>
      </p:sp>
    </p:spTree>
    <p:extLst>
      <p:ext uri="{BB962C8B-B14F-4D97-AF65-F5344CB8AC3E}">
        <p14:creationId xmlns:p14="http://schemas.microsoft.com/office/powerpoint/2010/main" val="3435151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2921</TotalTime>
  <Words>2400</Words>
  <Application>Microsoft Office PowerPoint</Application>
  <PresentationFormat>Widescreen</PresentationFormat>
  <Paragraphs>694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Using Zero-inflated Regression and the Homophily Principle to Model Migration for Population Projections</vt:lpstr>
      <vt:lpstr>My Research Interests</vt:lpstr>
      <vt:lpstr>My Research Process</vt:lpstr>
      <vt:lpstr>Research Question #1</vt:lpstr>
      <vt:lpstr>The Radiation Model Simini et al (2012)</vt:lpstr>
      <vt:lpstr>Does the radiation model outperform regression-based spatial interaction models?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Does the radiation model outperform regression-based spatial interaction models?</vt:lpstr>
      <vt:lpstr>Does the radiation model outperform regression-based spatial interaction models?</vt:lpstr>
      <vt:lpstr>Does the radiation model outperform regression-based spatial interaction models?</vt:lpstr>
      <vt:lpstr>Does the radiation model outperform regression-based spatial interaction models?</vt:lpstr>
      <vt:lpstr>Research Question #1: Conclusions</vt:lpstr>
      <vt:lpstr>Research Question #2</vt:lpstr>
      <vt:lpstr>Migration and the Homophily Principle “Similarity breeds connection”</vt:lpstr>
      <vt:lpstr>“The Dominance of Economic Explanations for Migration” Spring et al. 2016</vt:lpstr>
      <vt:lpstr>Race Homophily </vt:lpstr>
      <vt:lpstr>Race Homophily </vt:lpstr>
      <vt:lpstr>Age Homophily, Urban Amenities, Labor Markets </vt:lpstr>
      <vt:lpstr>Age Homophily, Urban Amenities, Labor Markets</vt:lpstr>
      <vt:lpstr>Research Question #2: Conclusions</vt:lpstr>
      <vt:lpstr>Research Question #3</vt:lpstr>
      <vt:lpstr>Subnational Population Projections</vt:lpstr>
      <vt:lpstr>A new population projection</vt:lpstr>
      <vt:lpstr>Accuracy of state-level projections for 2020</vt:lpstr>
      <vt:lpstr>Accuracy of county level projections for 2020</vt:lpstr>
      <vt:lpstr>PowerPoint Presentation</vt:lpstr>
      <vt:lpstr>PowerPoint Presentation</vt:lpstr>
      <vt:lpstr>Research Question #3: Conclusions</vt:lpstr>
      <vt:lpstr>Limitations of this work</vt:lpstr>
      <vt:lpstr>Additional research &amp; next steps </vt:lpstr>
      <vt:lpstr>Thank you!</vt:lpstr>
      <vt:lpstr>Potential publications</vt:lpstr>
      <vt:lpstr>Race homophily in migration data</vt:lpstr>
      <vt:lpstr>Does the radiation model outperform regression-based spatial interaction models?</vt:lpstr>
      <vt:lpstr>Does the radiation model outperform regression-based spatial interaction models?</vt:lpstr>
      <vt:lpstr>Does the radiation model outperform regression-based spatial interaction models?</vt:lpstr>
      <vt:lpstr>PowerPoint Presentation</vt:lpstr>
      <vt:lpstr>PowerPoint Presentation</vt:lpstr>
      <vt:lpstr>Mercer County, MO</vt:lpstr>
      <vt:lpstr>Clay County, FL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 Morefield</dc:creator>
  <cp:lastModifiedBy>Phil Morefield</cp:lastModifiedBy>
  <cp:revision>11</cp:revision>
  <dcterms:created xsi:type="dcterms:W3CDTF">2021-12-09T02:20:29Z</dcterms:created>
  <dcterms:modified xsi:type="dcterms:W3CDTF">2022-05-25T16:14:09Z</dcterms:modified>
</cp:coreProperties>
</file>