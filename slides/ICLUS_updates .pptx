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313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66AC48"/>
    <a:srgbClr val="DFE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373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2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37289-92BD-493D-A2C0-426A0A04EEA0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52DBB-387A-4CD8-B165-66F4D89C8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48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38000">
              <a:schemeClr val="bg1"/>
            </a:gs>
            <a:gs pos="0">
              <a:schemeClr val="bg1"/>
            </a:gs>
            <a:gs pos="100000">
              <a:srgbClr val="DFE0E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70991"/>
            <a:ext cx="9144000" cy="203897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219CC-EB60-4153-AD21-9A93A46B1DF9}" type="datetime1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2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5" userDrawn="1">
          <p15:clr>
            <a:srgbClr val="FBAE40"/>
          </p15:clr>
        </p15:guide>
        <p15:guide id="2" pos="1272" userDrawn="1">
          <p15:clr>
            <a:srgbClr val="FBAE40"/>
          </p15:clr>
        </p15:guide>
        <p15:guide id="3" orient="horz" pos="781" userDrawn="1">
          <p15:clr>
            <a:srgbClr val="FBAE40"/>
          </p15:clr>
        </p15:guide>
        <p15:guide id="4" pos="19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2BB86-C56C-4FA7-91D5-1BE9BCC038EF}" type="datetime1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1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FBE1D-8AFC-4A68-82EA-CDB5119DCDE8}" type="datetime1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3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2AA-BB9E-4E90-9653-A8C1C5ED6879}" type="datetime1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88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102" y="351873"/>
            <a:ext cx="8869897" cy="8673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1720-ACFF-498D-A719-EF005E67EC34}" type="datetime1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13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8791A-69B6-45A4-9057-5C2B96742111}" type="datetime1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91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94342-B2DD-4E0D-A385-114EAA267F55}" type="datetime1">
              <a:rPr lang="en-US" smtClean="0"/>
              <a:t>9/20/2024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7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17983"/>
            <a:ext cx="6172200" cy="44430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723B6-AE73-4303-908F-F0C191B81360}" type="datetime1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3322104" y="338622"/>
            <a:ext cx="8869896" cy="895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2112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/>
          <p:cNvSpPr/>
          <p:nvPr userDrawn="1"/>
        </p:nvSpPr>
        <p:spPr>
          <a:xfrm>
            <a:off x="2242196" y="337167"/>
            <a:ext cx="9959248" cy="914400"/>
          </a:xfrm>
          <a:custGeom>
            <a:avLst/>
            <a:gdLst>
              <a:gd name="connsiteX0" fmla="*/ 9959248 w 9959248"/>
              <a:gd name="connsiteY0" fmla="*/ 0 h 914400"/>
              <a:gd name="connsiteX1" fmla="*/ 0 w 9959248"/>
              <a:gd name="connsiteY1" fmla="*/ 0 h 914400"/>
              <a:gd name="connsiteX2" fmla="*/ 914400 w 9959248"/>
              <a:gd name="connsiteY2" fmla="*/ 914400 h 914400"/>
              <a:gd name="connsiteX3" fmla="*/ 9959248 w 9959248"/>
              <a:gd name="connsiteY3" fmla="*/ 914400 h 914400"/>
              <a:gd name="connsiteX4" fmla="*/ 9959248 w 9959248"/>
              <a:gd name="connsiteY4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59248" h="914400">
                <a:moveTo>
                  <a:pt x="9959248" y="0"/>
                </a:moveTo>
                <a:lnTo>
                  <a:pt x="0" y="0"/>
                </a:lnTo>
                <a:lnTo>
                  <a:pt x="914400" y="914400"/>
                </a:lnTo>
                <a:lnTo>
                  <a:pt x="9959248" y="914400"/>
                </a:lnTo>
                <a:lnTo>
                  <a:pt x="99592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497496"/>
            <a:ext cx="6172200" cy="436355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1A61B-594B-436B-BAD2-47B6279E077A}" type="datetime1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322104" y="338622"/>
            <a:ext cx="8869896" cy="895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110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chemeClr val="bg1"/>
            </a:gs>
            <a:gs pos="0">
              <a:schemeClr val="bg1"/>
            </a:gs>
            <a:gs pos="100000">
              <a:srgbClr val="DFE0E2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721" y="1500731"/>
            <a:ext cx="11257453" cy="4676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583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FACA6-99F7-4B8B-98BC-D37FB07A169E}" type="datetime1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22103" y="6356350"/>
            <a:ext cx="55568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Integrated Climate and Land Use Scenarios (ICLUS)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621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CB710-0265-4668-9FC1-C9C0EDA73F2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/>
          <p:cNvSpPr/>
          <p:nvPr userDrawn="1"/>
        </p:nvSpPr>
        <p:spPr>
          <a:xfrm>
            <a:off x="0" y="337167"/>
            <a:ext cx="2963007" cy="923192"/>
          </a:xfrm>
          <a:custGeom>
            <a:avLst/>
            <a:gdLst>
              <a:gd name="connsiteX0" fmla="*/ 0 w 2963007"/>
              <a:gd name="connsiteY0" fmla="*/ 0 h 923192"/>
              <a:gd name="connsiteX1" fmla="*/ 2039815 w 2963007"/>
              <a:gd name="connsiteY1" fmla="*/ 0 h 923192"/>
              <a:gd name="connsiteX2" fmla="*/ 2963007 w 2963007"/>
              <a:gd name="connsiteY2" fmla="*/ 923192 h 923192"/>
              <a:gd name="connsiteX3" fmla="*/ 0 w 2963007"/>
              <a:gd name="connsiteY3" fmla="*/ 923192 h 923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3007" h="923192">
                <a:moveTo>
                  <a:pt x="0" y="0"/>
                </a:moveTo>
                <a:lnTo>
                  <a:pt x="2039815" y="0"/>
                </a:lnTo>
                <a:lnTo>
                  <a:pt x="2963007" y="923192"/>
                </a:lnTo>
                <a:lnTo>
                  <a:pt x="0" y="923192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dist="63500" dir="18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21" y="577539"/>
            <a:ext cx="1412377" cy="43365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22104" y="338622"/>
            <a:ext cx="8869896" cy="895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85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fpub.epa.gov/ncea/iclus/recordisplay.cfm?deid=322479" TargetMode="External"/><Relationship Id="rId2" Type="http://schemas.openxmlformats.org/officeDocument/2006/relationships/hyperlink" Target="https://journals.plos.org/plosone/article?id=10.1371/journal.pone.009462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86834E-C740-4174-9870-96E8501EF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3917" y="1396989"/>
            <a:ext cx="10283846" cy="514192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8FF65-A700-2900-E6BF-01F0548C6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B07F5-D127-453D-A2E6-1E636374F0AA}" type="datetime1">
              <a:rPr lang="en-US" smtClean="0"/>
              <a:t>9/20/2024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A548A4-7D09-1552-1F17-FE6EB9D3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19570F-5D1B-1EBA-8A10-75FED363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5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096BF-AC9A-4E01-A638-3B0C1B4D3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National Land Use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D53BD-7CB0-47D7-806C-6CCA7E08E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High-resolution (90m) land use data for CONUS</a:t>
            </a:r>
          </a:p>
          <a:p>
            <a:pPr lvl="1"/>
            <a:r>
              <a:rPr lang="en-US" dirty="0">
                <a:hlinkClick r:id="rId2"/>
              </a:rPr>
              <a:t>Theobald, D. (2014)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>
                <a:hlinkClick r:id="rId3"/>
              </a:rPr>
              <a:t>Integrated Climate and Land Use Scenarios (ICLUS), version 2</a:t>
            </a:r>
            <a:endParaRPr lang="en-US" dirty="0"/>
          </a:p>
          <a:p>
            <a:pPr lvl="1"/>
            <a:r>
              <a:rPr lang="en-US" dirty="0"/>
              <a:t>Uses NLUD transition probabilities (2000</a:t>
            </a:r>
            <a:r>
              <a:rPr lang="en-US" dirty="0">
                <a:sym typeface="Wingdings" panose="05000000000000000000" pitchFamily="2" charset="2"/>
              </a:rPr>
              <a:t>2010)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NLUD for ICLUS v3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Modify some land use classes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Retain 30m resolution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Improve documentation and reproducibility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Quantify classification accuracy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BF750D-F8F1-520E-17A8-1BFEFE97E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3B0D5-EF9B-44F0-B9DC-592F767297E5}" type="datetime1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34AFD-88DA-B907-B543-537E05AE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Integrated Climate and Land Use Scenarios (ICLUS)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0FAFD-2317-1393-8CE4-84625F0D1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B710-0265-4668-9FC1-C9C0EDA73F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6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</TotalTime>
  <Words>81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 Theme</vt:lpstr>
      <vt:lpstr>PowerPoint Presentation</vt:lpstr>
      <vt:lpstr>National Land Use Database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Tarpley, Keith</dc:creator>
  <cp:lastModifiedBy>Morefield, Philip</cp:lastModifiedBy>
  <cp:revision>51</cp:revision>
  <dcterms:created xsi:type="dcterms:W3CDTF">2016-06-28T14:09:22Z</dcterms:created>
  <dcterms:modified xsi:type="dcterms:W3CDTF">2024-09-20T18:51:58Z</dcterms:modified>
</cp:coreProperties>
</file>